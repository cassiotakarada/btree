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92" r:id="rId44"/>
    <p:sldId id="281" r:id="rId32"/>
    <p:sldId id="293" r:id="rId45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zqM8isCC5Dw4O6MfCWkqMpw6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16A1BC-36C8-4648-86B1-20EBE51095D4}">
  <a:tblStyle styleId="{CC16A1BC-36C8-4648-86B1-20EBE51095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7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customschemas.google.com/relationships/presentationmetadata" Target="metadata"/><Relationship Id="rId44" Type="http://schemas.openxmlformats.org/officeDocument/2006/relationships/slide" Target="slides/slide26.xml"/><Relationship Id="rId4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2011680"/>
            <a:ext cx="12191695" cy="15544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Uma classe Árvore B de ordem m operando estritamente em disco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Algoritmos e Estruturas de Dados — AED-PG-2026 (5955001-3)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Prof. Dr. José Augusto Baranauskas — DCM / USP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C++17  ·  1º Semestre/2026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Cássio Takarada  ·  Cézio Luiz Ferreira Junior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11480" y="1051560"/>
            <a:ext cx="5623560" cy="1720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Parte 1 — a estrutura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Motivação: Por que disco e por que Árvore B ?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Estrutura: nó e arquivo (parâmetros)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Problema e objetivo do projeto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    Lembrete:  Busca, inserção e Remoção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Demonstração ao vivo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Parte 2 — a avaliação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Experimentos e métricas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Impacto da ordem 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Escala e reaproveitamento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Validação em 2 máquinas + conclusões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1/38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-40615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Motivação: memória rápida × disco lento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33350" y="2033955"/>
            <a:ext cx="12017730" cy="3631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⮚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Por que disco e por que Árvore B 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Problema: RAM é rápida, volátil e com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baixa capacidade de armazenamento.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Solução: Disco contém alta capacidade de armazenamento, permanente, mas na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 de 10^6 mais lento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⇒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Em um BD real o verdadeiro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gargalo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é o número de acessos (leitura e escrita) ao disco.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Objetivo: minimizar o número de acessos ao disco.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⇒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Árvore B: menos profunda que outras estruturas (menos acessos ao disco).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2/38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2192000" cy="771525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Árvore B: Parâmetros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52449" y="4404455"/>
            <a:ext cx="574357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Registro de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tamanho fixo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, lido de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uma vez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Campos: n ·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ponteiros 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A[ ] ·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chaves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K[ 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 →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até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m-1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chaves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e m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filhos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1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1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acesso ao 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disco</a:t>
            </a:r>
            <a:endParaRPr/>
          </a:p>
        </p:txBody>
      </p:sp>
      <p:pic>
        <p:nvPicPr>
          <p:cNvPr descr="chart_node_anatomy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0941"/>
            <a:ext cx="7742928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secundária— AED-PG-2026         3/38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Árvores geradas pelo Graphviz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457200" y="1051560"/>
            <a:ext cx="11247120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Cada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caixa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= nó no disco (RRN)</a:t>
            </a:r>
            <a:endParaRPr b="0"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m=3 e 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m=4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 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mais chaves por nó→ </a:t>
            </a:r>
            <a:r>
              <a:rPr b="1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tende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 ser mais rasa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graphs_m3_m5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501" y="2939796"/>
            <a:ext cx="8020318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4/38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Layout do arquivo no disco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95250" y="629678"/>
            <a:ext cx="6000750" cy="4873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Cabeçalho (RRN 0):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Guarda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posição da raiz, total de nós, ponteiro da free list 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RRN 0 = header (root, total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, free_head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Permite abrir o arquivo com um único acesso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Acesso direto por RRN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Cada nó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 ocupa uma página fixa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offset = RRN × PAGE_SIZE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Reaproveitamento de nós (free List)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Nós removidos entram na free list (reuso)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free_head aponta para o primeiro nó livre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Evita fragmentação e crescimento desnecessário do arquivo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file_layout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157" y="1162536"/>
            <a:ext cx="6653537" cy="306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em memória secundária— AED-PG-2026          5/38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02920" y="211202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e objetivos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795355" y="1276611"/>
            <a:ext cx="10850305" cy="34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Symbols"/>
              <a:buChar char="⮚"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Enunciado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Implementação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uma classe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Árvore B de ordem </a:t>
            </a:r>
            <a:r>
              <a:rPr i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que resida em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MEMÓRIA SECUNDÁRIA (um arquivo em disco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Restrição Central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Nunca carregada inteira na RAM – cada operação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acessa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 nó por vez.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Operações básicas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Busca, inserção e Remoção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avaliação do desempenho para variações da ordem de m, n. 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Extra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Implementação de uma </a:t>
            </a:r>
            <a:r>
              <a:rPr b="1" i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 List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(reaproveitamento de nós deletados do disco).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duas máquinas: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pessoal X Servidor Titan (USP)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secundária— AED-PG-2026          6/38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índice e a métrica mais fiel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640080" y="2656880"/>
            <a:ext cx="1097280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estrutura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“L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ayout do arquivo em disco”(header + RRNs + páginas fixas), faz a Árvore B funcionar como um índice e evita a leitura do arquivo inteiro, ie, segue apenas o caminho raiz → folha.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header (cabeçalho) aponta para a raiz: busca começa em um único acesso.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Métrica mais fiel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nº de acessos ao disco (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não o relógio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relógio engana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escrita vai ao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cache do SO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7/38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Decisões de implementação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457200" y="1051560"/>
            <a:ext cx="10944225" cy="990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m =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constante de compilação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(M)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Raiz no header (cabeçalho) · 1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 por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I/O ·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nunca carrega a árvore completa</a:t>
            </a:r>
            <a:endParaRPr b="0"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 list </a:t>
            </a: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próprio arquivo (reaproveitamento)</a:t>
            </a:r>
            <a:endParaRPr b="0" sz="15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3_final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2819400"/>
            <a:ext cx="11487151" cy="3428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457200" y="627789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(m=3, 40 chaves) exportada pelo próprio código — o número é o RRN no disco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secundária— AED-PG-2026          8/38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457200" y="331"/>
            <a:ext cx="11247120" cy="87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Classe DiskManager — um nó por I/O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640080" y="2426048"/>
            <a:ext cx="109728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Toda leitura/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escrita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passa pelo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DiskManager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Sempre que a análise de um nó é necessária  é feita uma leitura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readNode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), se houver alteração nele, a  escrita é realizada 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writeNode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readNote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writeNode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1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de PAGE_SIZE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Nessa classe reside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contador de acessos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métrica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central).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árvore nunca é totalmente carregada na RAM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secundária— AED-PG-2026          9/38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Métodos — visão geral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 m-vias 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mSearch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Inserção: bottom-up com split (i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nsertB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sucessor, redistribuição e fusão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(deleteB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Monitoramento: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printTree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· exportDot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10/38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m-way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457200" y="3185229"/>
            <a:ext cx="5852160" cy="1036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Chaves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dividem o universo em faixas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Desce pelo ponteiro da faixa certa 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Custo</a:t>
            </a: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≈ </a:t>
            </a:r>
            <a:r>
              <a:rPr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altura da árvore</a:t>
            </a:r>
            <a:endParaRPr b="0"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3_final.png"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975" y="1228725"/>
            <a:ext cx="7999093" cy="447713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 txBox="1"/>
          <p:nvPr/>
        </p:nvSpPr>
        <p:spPr>
          <a:xfrm>
            <a:off x="6126480" y="5989320"/>
            <a:ext cx="55778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busca segue um caminho da raiz à folha</a:t>
            </a:r>
            <a:endParaRPr b="0"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11/38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Inserção e split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Bottom-up: acha a folha, insere em ordem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Estourou (&gt; m-1 chaves)? → split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 mediana sobe ao pai; pode propagar e criar raiz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É o que mantém a árvore balanceada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12/38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Remoção — sucessor, redistribuição e fusão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 interno: troca pelo sucessor in-order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Folha pode ficar em underflow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Redistribuição: empresta de um irmão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Fusão: funde com irmão + chave do pai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13/38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Reaproveitamento – Free List</a:t>
            </a:r>
            <a:endParaRPr b="1"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Remoção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libera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nó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vira nó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LIVRE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freeNode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encadeia na lista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(free_head no header)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allocNode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reusa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antes de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crescer o arquivo</a:t>
            </a:r>
            <a:endParaRPr b="0" sz="20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Ligável 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setReuse</a:t>
            </a: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—medido no churn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14/38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 — o que o código faz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411480" y="1051560"/>
            <a:ext cx="5623560" cy="144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Núcleo — Árvore B em disco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 m parametrizável (M em compilação)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100% em disco: 1 nó por I/O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 · inserção (split) · remoção (merge)</a:t>
            </a:r>
            <a:endParaRPr b="0" sz="14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Persistência por RRN + header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Extras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Contador de acessos ao disco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 list ligável (setReuse)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printTree · height · exportDot (Graphviz)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Benchmark CSV + automação (run_all, make_tables)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secundária— AED-PG-2026          15/38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Ferramentas utilizadas</a:t>
            </a:r>
            <a:endParaRPr/>
          </a:p>
        </p:txBody>
      </p:sp>
      <p:sp>
        <p:nvSpPr>
          <p:cNvPr id="222" name="Google Shape;222;p34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Implementação &amp; experimentos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C++17 (g++ -O2) · GNU Make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std::fstream (binário, registros fixos)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Graphviz (grafos) · Python + matplotlib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python-pptx / reportlab (slides)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D4ED8"/>
                </a:solidFill>
                <a:latin typeface="Calibri"/>
              </a:rPr>
              <a:t>Processo &amp; reprodutibilidade</a:t>
            </a:r>
            <a:endParaRPr/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Versionamento com Git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Experimentos reprodutíveis (CSV)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Build parametrizável: make M=&lt;ordem&gt;</a:t>
            </a:r>
          </a:p>
          <a:p>
            <a:r>
              <a:rPr sz="1400" b="0">
                <a:solidFill>
                  <a:srgbClr val="111827"/>
                </a:solidFill>
                <a:latin typeface="Calibri"/>
              </a:rPr>
              <a:t>•  Validação cruzada em 2 máquinas</a:t>
            </a:r>
          </a:p>
        </p:txBody>
      </p:sp>
      <p:sp>
        <p:nvSpPr>
          <p:cNvPr id="224" name="Google Shape;224;p3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16/38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Demonstração — o programa rodando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457200" y="1051560"/>
            <a:ext cx="11247120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Compilação → menu → CRUD + métricas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m=3 e m=5: a árvore ficar pode ficar mais rasa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Captura real da execução</a:t>
            </a:r>
            <a:endParaRPr/>
          </a:p>
        </p:txBody>
      </p:sp>
      <p:pic>
        <p:nvPicPr>
          <p:cNvPr descr="demo_btree.gif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5145" y="2743200"/>
            <a:ext cx="5331229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2286000" y="61564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 M=3/M=5 → menu interativo → grafo exportado pelo programa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17/38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experimentos — a matriz de testes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Exp.1 — impacto da ordem m (N=10⁵)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Exp.2 — escala N (10³–10⁶)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Exp.3 — ocupação com/sem reuso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Exp.4 — CPU vs I/O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Validação em 2 máquinas</a:t>
            </a:r>
            <a:endParaRPr/>
          </a:p>
        </p:txBody>
      </p:sp>
      <p:pic>
        <p:nvPicPr>
          <p:cNvPr descr="chart_io_vs_N.png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18/38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e ambiente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Driver não interativo → CSV de métricas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Cada configuração reconstruída do zero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Modos aleatório e sequencial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getrusage: CPU usuário / sistema / espera de I/O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2 máquinas: Notebook × Titan (USP)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19/38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utilizadas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ao disco — métrica central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(~ log_m 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Ocupação: nós, livres e bytes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Tempo: wall · CPU (user/sys) · espera de I/O</a:t>
            </a:r>
            <a:endParaRPr/>
          </a:p>
        </p:txBody>
      </p:sp>
      <p:pic>
        <p:nvPicPr>
          <p:cNvPr descr="chart_height_vs_m.png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20/38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da ordem m — I/O por busca (N=10⁵)</a:t>
            </a:r>
            <a:endParaRPr/>
          </a:p>
        </p:txBody>
      </p:sp>
      <p:graphicFrame>
        <p:nvGraphicFramePr>
          <p:cNvPr id="267" name="Google Shape;267;p21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{CC16A1BC-36C8-4648-86B1-20EBE51095D4}</a:tableStyleId>
              </a:tblPr>
              <a:tblGrid>
                <a:gridCol w="899150"/>
                <a:gridCol w="899150"/>
                <a:gridCol w="899150"/>
                <a:gridCol w="899150"/>
                <a:gridCol w="899150"/>
                <a:gridCol w="899150"/>
              </a:tblGrid>
              <a:tr h="351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altura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busca I/O/op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inser. I/O/op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rem. I/O/op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arquivo (KB)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16.90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19.67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2,040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10.48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16.76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1,829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8.63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11.50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1,589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6.79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9.05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10.91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1,411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8.16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1,251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3.95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1,189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1,146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128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1,088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io_vs_m.png"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I/O por busca cai de 13,25 (m=3, altura 14) para 2,00 (m≥512, altura 2). Ganho satura por volta de m≈64-128.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21/38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da ordem m — altura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≈ acessos por busca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m=3 → 14 níveis (fundo demais)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cresce → altura despenca em degraus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grande → altura 2</a:t>
            </a:r>
            <a:endParaRPr/>
          </a:p>
        </p:txBody>
      </p:sp>
      <p:pic>
        <p:nvPicPr>
          <p:cNvPr descr="chart_height_vs_m.png"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22/38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por operação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Busca: a mais barata (raiz → folha)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Inserção: split reescreve nós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a mais cara (redistribui / funde)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Todas caem com m e saturam juntas</a:t>
            </a:r>
            <a:endParaRPr/>
          </a:p>
        </p:txBody>
      </p:sp>
      <p:pic>
        <p:nvPicPr>
          <p:cNvPr descr="chart_phase_io.png"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23/38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 do conjunto (mil → 1 milhão)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 de mil a um milhão de chaves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por busca quase não mudam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Custo logarítmico na base 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Escalável: cresce o dado, não o custo</a:t>
            </a:r>
            <a:endParaRPr/>
          </a:p>
        </p:txBody>
      </p:sp>
      <p:pic>
        <p:nvPicPr>
          <p:cNvPr descr="chart_io_vs_N.png" id="296" name="Google Shape;2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24/38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Comparação de desempenho — Árvore B × Array ordenado</a:t>
            </a:r>
          </a:p>
        </p:txBody>
      </p:sp>
      <p:pic>
        <p:nvPicPr>
          <p:cNvPr id="4" name="Picture 3" descr="cmp_btree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2023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26280"/>
          <a:ext cx="6757413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56231"/>
                <a:gridCol w="1856231"/>
                <a:gridCol w="1856231"/>
              </a:tblGrid>
              <a:tr h="42291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27432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Inserção</a:t>
                      </a:r>
                    </a:p>
                  </a:txBody>
                  <a:tcPr marL="45720" marR="27432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Busca</a:t>
                      </a:r>
                    </a:p>
                  </a:txBody>
                  <a:tcPr marL="45720" marR="27432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Remoção</a:t>
                      </a:r>
                    </a:p>
                  </a:txBody>
                  <a:tcPr marL="45720" marR="27432" marT="18288" marB="18288" anchor="ctr">
                    <a:solidFill>
                      <a:srgbClr val="1D4ED8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5,7 / 58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3,7 / 5,7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7,7 / 54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45720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7,5 / 496</a:t>
                      </a:r>
                    </a:p>
                  </a:txBody>
                  <a:tcPr marL="45720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4,6 / 8,9</a:t>
                      </a:r>
                    </a:p>
                  </a:txBody>
                  <a:tcPr marL="45720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9,5 / 525</a:t>
                      </a:r>
                    </a:p>
                  </a:txBody>
                  <a:tcPr marL="45720" marR="27432" marT="18288" marB="18288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10.000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9,4 / 5037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6,6 / 12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11,3 / 4970</a:t>
                      </a:r>
                    </a:p>
                  </a:txBody>
                  <a:tcPr marL="45720" marR="27432" marT="18288" marB="18288"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Acessos médios/op  —  Árvore B / Array ordenado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4526280"/>
            <a:ext cx="4114800" cy="1783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Busca: quase empata — ambas O(log n).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Inserção e remoção: array desloca ~N/2 registros (O(n)).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DC2626"/>
                </a:solidFill>
                <a:latin typeface="Calibri"/>
              </a:rPr>
              <a:t>→ até 538× (inserção) e 440× (remoção) mais I/O — N=10.000.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25/38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Reaproveitamento de nós (churn)</a:t>
            </a:r>
            <a:endParaRPr/>
          </a:p>
        </p:txBody>
      </p:sp>
      <p:graphicFrame>
        <p:nvGraphicFramePr>
          <p:cNvPr id="304" name="Google Shape;304;p25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{CC16A1BC-36C8-4648-86B1-20EBE51095D4}</a:tableStyleId>
              </a:tblPr>
              <a:tblGrid>
                <a:gridCol w="1079000"/>
                <a:gridCol w="1079000"/>
                <a:gridCol w="1079000"/>
                <a:gridCol w="1079000"/>
                <a:gridCol w="1079000"/>
              </a:tblGrid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sem reuso (KB)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com reuso (KB)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economia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3,407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2,404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2,663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1,905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1,931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1,404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reus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reaproveitamento economiza ~27-30% do tamanho do arquivo neste workload.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26/38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As duas máquinas da avaliação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069080"/>
                <a:gridCol w="455371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45720" marT="13716" marB="13716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Notebook (referência)</a:t>
                      </a:r>
                    </a:p>
                  </a:txBody>
                  <a:tcPr marL="73152" marR="45720" marT="13716" marB="13716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Titan — USP</a:t>
                      </a:r>
                    </a:p>
                  </a:txBody>
                  <a:tcPr marL="73152" marR="45720" marT="13716" marB="13716" anchor="ctr">
                    <a:solidFill>
                      <a:srgbClr val="7C3AB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CPU</a:t>
                      </a:r>
                    </a:p>
                  </a:txBody>
                  <a:tcPr marL="73152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Intel Core 7 240H</a:t>
                      </a:r>
                    </a:p>
                  </a:txBody>
                  <a:tcPr marL="73152" marR="45720" marT="13716" marB="1371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AMD Ryzen Threadripper PRO 5975WX</a:t>
                      </a:r>
                    </a:p>
                  </a:txBody>
                  <a:tcPr marL="73152" marR="45720" marT="13716" marB="13716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Núcleos / threads</a:t>
                      </a:r>
                    </a:p>
                  </a:txBody>
                  <a:tcPr marL="73152" marR="45720" marT="13716" marB="1371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8 núcleos / 16 threads</a:t>
                      </a:r>
                    </a:p>
                  </a:txBody>
                  <a:tcPr marL="73152" marR="45720" marT="13716" marB="13716" anchor="ctr">
                    <a:solidFill>
                      <a:srgbClr val="EF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32 núcleos / 64 threads</a:t>
                      </a:r>
                    </a:p>
                  </a:txBody>
                  <a:tcPr marL="73152" marR="45720" marT="13716" marB="13716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Cache (L1d·L2·L3)</a:t>
                      </a:r>
                    </a:p>
                  </a:txBody>
                  <a:tcPr marL="73152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384 KiB · 10 · 24 MiB</a:t>
                      </a:r>
                    </a:p>
                  </a:txBody>
                  <a:tcPr marL="73152" marR="45720" marT="13716" marB="1371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1 · 16 · 128 MiB</a:t>
                      </a:r>
                    </a:p>
                  </a:txBody>
                  <a:tcPr marL="73152" marR="45720" marT="13716" marB="13716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Memória RAM</a:t>
                      </a:r>
                    </a:p>
                  </a:txBody>
                  <a:tcPr marL="73152" marR="45720" marT="13716" marB="1371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16 GiB</a:t>
                      </a:r>
                    </a:p>
                  </a:txBody>
                  <a:tcPr marL="73152" marR="45720" marT="13716" marB="13716" anchor="ctr">
                    <a:solidFill>
                      <a:srgbClr val="EF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125 GiB</a:t>
                      </a:r>
                    </a:p>
                  </a:txBody>
                  <a:tcPr marL="73152" marR="45720" marT="13716" marB="13716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73152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Ubuntu 24.04 — WSL2 (Windows)</a:t>
                      </a:r>
                    </a:p>
                  </a:txBody>
                  <a:tcPr marL="73152" marR="45720" marT="13716" marB="1371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Ubuntu 24.04 — bare-metal</a:t>
                      </a:r>
                    </a:p>
                  </a:txBody>
                  <a:tcPr marL="73152" marR="45720" marT="13716" marB="13716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Kernel</a:t>
                      </a:r>
                    </a:p>
                  </a:txBody>
                  <a:tcPr marL="73152" marR="45720" marT="13716" marB="1371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6.6 (WSL2)</a:t>
                      </a:r>
                    </a:p>
                  </a:txBody>
                  <a:tcPr marL="73152" marR="45720" marT="13716" marB="13716" anchor="ctr">
                    <a:solidFill>
                      <a:srgbClr val="EF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6.17 (generic)</a:t>
                      </a:r>
                    </a:p>
                  </a:txBody>
                  <a:tcPr marL="73152" marR="45720" marT="13716" marB="13716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Compilador</a:t>
                      </a:r>
                    </a:p>
                  </a:txBody>
                  <a:tcPr marL="73152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g++ 13.3.0 · C++17 -O2</a:t>
                      </a:r>
                    </a:p>
                  </a:txBody>
                  <a:tcPr marL="73152" marR="45720" marT="13716" marB="1371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g++ 13.3.0 · C++17 -O2</a:t>
                      </a:r>
                    </a:p>
                  </a:txBody>
                  <a:tcPr marL="73152" marR="45720" marT="13716" marB="13716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Ferramentas</a:t>
                      </a:r>
                    </a:p>
                  </a:txBody>
                  <a:tcPr marL="73152" marR="45720" marT="13716" marB="1371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Make 4.3 · Graphviz 2.43 · Py 3.12</a:t>
                      </a:r>
                    </a:p>
                  </a:txBody>
                  <a:tcPr marL="73152" marR="45720" marT="13716" marB="13716" anchor="ctr">
                    <a:solidFill>
                      <a:srgbClr val="EF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Make 4.3 · Graphviz 2.43 · Py 3.12</a:t>
                      </a:r>
                    </a:p>
                  </a:txBody>
                  <a:tcPr marL="73152" marR="45720" marT="13716" marB="13716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Disco do arquivo .bin</a:t>
                      </a:r>
                    </a:p>
                  </a:txBody>
                  <a:tcPr marL="73152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ext4 (disco virtual WSL2)</a:t>
                      </a:r>
                    </a:p>
                  </a:txBody>
                  <a:tcPr marL="73152" marR="45720" marT="13716" marB="1371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ext4 (SSD NVMe, bare-metal)</a:t>
                      </a:r>
                    </a:p>
                  </a:txBody>
                  <a:tcPr marL="73152" marR="45720" marT="13716" marB="13716" anchor="ctr"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Mesmo software (g++ 13.3, mesmas ferramentas); hardware e ambiente bem diferentes. Ainda assim, os acessos a disco saem idênticos — só o tempo muda.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27/38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tempo (wall)</a:t>
            </a:r>
            <a:endParaRPr/>
          </a:p>
        </p:txBody>
      </p:sp>
      <p:graphicFrame>
        <p:nvGraphicFramePr>
          <p:cNvPr id="314" name="Google Shape;314;p26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{CC16A1BC-36C8-4648-86B1-20EBE51095D4}</a:tableStyleId>
              </a:tblPr>
              <a:tblGrid>
                <a:gridCol w="1079000"/>
                <a:gridCol w="1079000"/>
                <a:gridCol w="1079000"/>
                <a:gridCol w="1079000"/>
                <a:gridCol w="10790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acessos disco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Notebook wall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Titan wall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speedup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4.982.252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6.05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7.78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0.78×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2.006.878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2.61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2.23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1.17×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1.346.869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2.02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1.48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1.36×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1.033.255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2.22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1.96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1.14×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wall_machines.png" id="315" name="Google Shape;3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Mesmo programa, 2 máquinas: acessos a disco idênticos; só o tempo muda — a curva tem a mesma forma.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28/38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CPU e determinismo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457200" y="1051560"/>
            <a:ext cx="11247120" cy="1874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 é quase todo CPU de sistema (I/O), não espera de disco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idênticos: todos os pontos sobre y=x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 e portável</a:t>
            </a:r>
            <a:endParaRPr/>
          </a:p>
        </p:txBody>
      </p:sp>
      <p:pic>
        <p:nvPicPr>
          <p:cNvPr descr="chart_cpu_split.png" id="325" name="Google Shape;3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274" y="3200400"/>
            <a:ext cx="5258252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365760" y="6156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 usuário vs sistema (I/O) nas 2 máquinas</a:t>
            </a:r>
            <a:endParaRPr/>
          </a:p>
        </p:txBody>
      </p:sp>
      <p:pic>
        <p:nvPicPr>
          <p:cNvPr descr="chart_determinism.png" id="327" name="Google Shape;3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154" y="3200400"/>
            <a:ext cx="5258252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6263640" y="6156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Acessos a disco idênticos — pontos sobre y=x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29/38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validação cruzada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Notebook × Titan (USP)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a disco idênticos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Só o tempo varia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Comparação via compare.py</a:t>
            </a:r>
            <a:endParaRPr/>
          </a:p>
        </p:txBody>
      </p:sp>
      <p:pic>
        <p:nvPicPr>
          <p:cNvPr descr="chart_machines.png" id="337" name="Google Shape;3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30/38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escala do conjunto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 até 1 milhão (m=100), nas 2 máquinas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 cresce devagar (logarítmico)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Mesma tendência; Titan mais rápido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Prova prática de escalabilidade</a:t>
            </a:r>
            <a:endParaRPr/>
          </a:p>
        </p:txBody>
      </p:sp>
      <p:pic>
        <p:nvPicPr>
          <p:cNvPr descr="chart_scale_machines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31/38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usássemos union no header? (sugestão do prof.)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Como está hoje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Header e BNode são tipos separados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E/S serializa campo a campo (memcpy)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Header usa 1 página inteira (RRN uniforme)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 livre esconde o próximo em K[1]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Com union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Página única: header e nós no mesmo tamanho fixo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Lê/escreve a página inteira → menos código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FreeNode.next explícito (autodocumentado)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Custo: portabilidade do binário (padding/endianness)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32/38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Dificuldades técnicas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Indexação 1-based (RRN 0 = header)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manter o path para reparar underflow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eofbit do fstream → resolvido com clear()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Serialização campo a campo é propensa a erro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33/38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Vantagens × Desvantagens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baixa → poucos acessos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Sempre balanceada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Ideal para disco e índices de SGBD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 + reuso de espaço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Desvantagens / custos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Nós subocupados (~50% no sequencial)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 complexa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muito grande → mais CPU por nó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Existe um m ótimo (tamanho de bloco)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34/38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Aplicações práticas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SGBDs: MySQL/InnoDB, PostgreSQL, Oracle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Sistemas de arquivos: NTFS, APFS, ext4, Btrfs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Chave-valor: SQLite, LMDB, BerkeleyDB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Uso natural: índice de um banco em disco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35/38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Árvore B 100% em disco, 1 nó por I/O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I/O por operação cai com m até saturar (~64-128)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 list economiza ~27-30% de espaço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Determinística: acessos idênticos em 2 máquinas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36/38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Comer, D. (1979). The Ubiquitous B-Tree. ACM Computing Surveys.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Knuth, D. The Art of Computer Programming, Vol. 3.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Bayer, R. &amp; McCreight, E. (1972). Large Ordered Indexes.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Baranauskas, J. A. Slides AED-PG-2026 (Árvores B). DCM / USP.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Obrigado! Perguntas?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B7280"/>
                </a:solidFill>
                <a:latin typeface="Calibri"/>
              </a:rPr>
              <a:t>Árvore B em Memória Secundária — AED-PG-2026          37/38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Cezio Ferreira</dc:creator>
</cp:coreProperties>
</file>