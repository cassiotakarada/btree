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gzqM8isCC5Dw4O6MfCWkqMpw6u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16A1BC-36C8-4648-86B1-20EBE51095D4}">
  <a:tblStyle styleId="{CC16A1BC-36C8-4648-86B1-20EBE51095D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gi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2011680"/>
            <a:ext cx="12191695" cy="15544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31520" y="2148840"/>
            <a:ext cx="10698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Uma classe Árvore B de ordem m operando estritamente em disco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Algoritmos e Estruturas de Dados — AED-PG-2026 (5955001-3)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Prof. Dr. José Augusto Baranauskas — DCM / USP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C++17  ·  1º Semestre/2026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Cássio Takarada  ·  Cézio Luiz Ferreira Junior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Roteiro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411480" y="1051560"/>
            <a:ext cx="5623560" cy="1720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Parte 1 — a estrutura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Motivação: Por que disco e por que Árvore B ?</a:t>
            </a:r>
            <a:endParaRPr b="0" i="0" sz="14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Estrutura: nó e arquivo (parâmetros)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Problema e objetivo do projeto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    Lembrete:  Busca, inserção e Remoção</a:t>
            </a:r>
            <a:endParaRPr b="0" i="0" sz="14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Demonstração ao vivo</a:t>
            </a:r>
            <a:endParaRPr b="0" i="0" sz="14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6263640" y="1051560"/>
            <a:ext cx="5623560" cy="539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Parte 2 — a avaliação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Experimentos e métricas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Impacto da ordem m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Escala e reaproveitamento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Validação em 2 máquinas + conclusões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2/36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-40615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457200" y="215774"/>
            <a:ext cx="11247120" cy="446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Motivação: memória rápida × disco lento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133350" y="2033955"/>
            <a:ext cx="12017730" cy="3631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Symbols"/>
              <a:buChar char="⮚"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Por que disco e por que Árvore B ?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Problema: RAM é rápida, volátil e com </a:t>
            </a: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baixa capacidade de armazenamento.</a:t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Solução: Disco contém alta capacidade de armazenamento, permanente, mas na </a:t>
            </a: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ordem de 10^6 mais lento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Symbols"/>
              <a:buChar char="⇒"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Em um BD real o verdadeiro </a:t>
            </a: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gargalo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é o número de acessos (leitura e escrita) ao disco.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Objetivo: minimizar o número de acessos ao disco.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Symbols"/>
              <a:buChar char="⇒"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Árvore B: menos profunda que outras estruturas (menos acessos ao disco).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3/36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0" y="0"/>
            <a:ext cx="12192000" cy="771525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Árvore B: Parâmetros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552449" y="4404455"/>
            <a:ext cx="574357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Registro de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tamanho fixo</a:t>
            </a: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, lido de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uma vez</a:t>
            </a:r>
            <a:endParaRPr b="0"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Campos: n ·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ponteiros </a:t>
            </a: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A[ ] ·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chaves</a:t>
            </a: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K[ 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Ordem</a:t>
            </a: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m →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até</a:t>
            </a: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m-1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chaves</a:t>
            </a: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e m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filhos</a:t>
            </a:r>
            <a:endParaRPr b="0"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1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nó</a:t>
            </a: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= 1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acesso ao </a:t>
            </a: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disco</a:t>
            </a:r>
            <a:endParaRPr/>
          </a:p>
        </p:txBody>
      </p:sp>
      <p:pic>
        <p:nvPicPr>
          <p:cNvPr descr="chart_node_anatomy.png"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910941"/>
            <a:ext cx="7742928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</a:t>
            </a: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— AED-PG-2026         4 /36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457200" y="215774"/>
            <a:ext cx="11247120" cy="446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Árvores geradas pelo Graphviz</a:t>
            </a:r>
            <a:endParaRPr b="1" sz="2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457200" y="1051560"/>
            <a:ext cx="11247120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Cada 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caixa</a:t>
            </a: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= nó no disco (RRN)</a:t>
            </a:r>
            <a:endParaRPr b="0"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m=3 e </a:t>
            </a: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m=4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( </a:t>
            </a: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mais chaves por nó→ </a:t>
            </a:r>
            <a:r>
              <a:rPr b="1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tende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a ser mais rasa</a:t>
            </a: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pic>
        <p:nvPicPr>
          <p:cNvPr descr="graphs_m3_m5.png"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501" y="2939796"/>
            <a:ext cx="8020318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</a:t>
            </a:r>
            <a:r>
              <a:rPr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/36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457200" y="215774"/>
            <a:ext cx="11247120" cy="446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Layout do arquivo no disco</a:t>
            </a:r>
            <a:endParaRPr/>
          </a:p>
        </p:txBody>
      </p:sp>
      <p:sp>
        <p:nvSpPr>
          <p:cNvPr id="128" name="Google Shape;128;p6"/>
          <p:cNvSpPr txBox="1"/>
          <p:nvPr/>
        </p:nvSpPr>
        <p:spPr>
          <a:xfrm>
            <a:off x="95250" y="629678"/>
            <a:ext cx="6000750" cy="4873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Cabeçalho (RRN 0):</a:t>
            </a:r>
            <a:endParaRPr b="0"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Guarda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a posição da raiz, total de nós, ponteiro da free list 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RRN 0 = header (root, total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, free_head</a:t>
            </a: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Permite abrir o arquivo com um único acesso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Acesso direto por RRN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Cada nó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 ocupa uma página fixa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offset = RRN × PAGE_SIZE</a:t>
            </a:r>
            <a:endParaRPr b="0"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Reaproveitamento de nós (free List)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Nós removidos entram na free list (reuso)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free_head aponta para o primeiro nó livre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Evita fragmentação e crescimento desnecessário do arquivo</a:t>
            </a:r>
            <a:endParaRPr b="0"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file_layout.png" id="129" name="Google Shape;1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8157" y="1162536"/>
            <a:ext cx="6653537" cy="306207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em memória secundária</a:t>
            </a: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— AED-PG-2026          6/36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502920" y="211202"/>
            <a:ext cx="11247120" cy="446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Problema e objetivos</a:t>
            </a:r>
            <a:endParaRPr b="1" sz="2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 txBox="1"/>
          <p:nvPr/>
        </p:nvSpPr>
        <p:spPr>
          <a:xfrm>
            <a:off x="795355" y="1276611"/>
            <a:ext cx="10850305" cy="3477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Symbols"/>
              <a:buChar char="⮚"/>
            </a:pP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Enunciado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Implementação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uma classe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Árvore B de ordem </a:t>
            </a:r>
            <a:r>
              <a:rPr i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que resida em 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MEMÓRIA SECUNDÁRIA (um arquivo em disco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Restrição Central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Nunca carregada inteira na RAM – cada operação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acessa 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um nó por vez.</a:t>
            </a:r>
            <a:endParaRPr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Operações básicas 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Busca, inserção e Remoção 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avaliação do desempenho para variações da ordem de m, n.  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Extra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Implementação de uma </a:t>
            </a:r>
            <a:r>
              <a:rPr b="1" i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Free List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(reaproveitamento de nós deletados do disco). 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Comparação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duas máquinas: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Notebook pessoal X Servidor Titan (USP)</a:t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</a:t>
            </a: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— AED-PG-2026          </a:t>
            </a:r>
            <a:r>
              <a:rPr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/36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457200" y="215774"/>
            <a:ext cx="11247120" cy="446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índice e a métrica mais fiel</a:t>
            </a:r>
            <a:endParaRPr b="1" sz="2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640080" y="2656880"/>
            <a:ext cx="10972800" cy="2092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 estrutura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“L</a:t>
            </a: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ayout do arquivo em disco”(header + RRNs + páginas fixas), faz a Árvore B funcionar como um índice e evita a leitura do arquivo inteiro, ie, segue apenas o caminho raiz → folha.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header (cabeçalho) aponta para a raiz: busca começa em um único acesso.</a:t>
            </a:r>
            <a:endParaRPr b="0"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Métrica mais fiel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= nº de acessos ao disco (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não o relógio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O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relógio engana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a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escrita vai ao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cache do SO</a:t>
            </a:r>
            <a:endParaRPr/>
          </a:p>
        </p:txBody>
      </p:sp>
      <p:sp>
        <p:nvSpPr>
          <p:cNvPr id="146" name="Google Shape;146;p8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</a:t>
            </a: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— AED-PG-2026          8/36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Decisões de implementação</a:t>
            </a:r>
            <a:endParaRPr/>
          </a:p>
        </p:txBody>
      </p:sp>
      <p:sp>
        <p:nvSpPr>
          <p:cNvPr id="153" name="Google Shape;153;p9"/>
          <p:cNvSpPr txBox="1"/>
          <p:nvPr/>
        </p:nvSpPr>
        <p:spPr>
          <a:xfrm>
            <a:off x="457200" y="1051560"/>
            <a:ext cx="10944225" cy="990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Ordem</a:t>
            </a: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m = 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constante de compilação</a:t>
            </a: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(M)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Raiz no header (cabeçalho) · 1 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nó por</a:t>
            </a: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I/O · 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nunca carrega a árvore completa</a:t>
            </a:r>
            <a:endParaRPr b="0"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Free list </a:t>
            </a: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 próprio arquivo (reaproveitamento)</a:t>
            </a:r>
            <a:endParaRPr b="0"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3_final.png" id="154" name="Google Shape;1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2819400"/>
            <a:ext cx="11487151" cy="342849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9"/>
          <p:cNvSpPr txBox="1"/>
          <p:nvPr/>
        </p:nvSpPr>
        <p:spPr>
          <a:xfrm>
            <a:off x="457200" y="627789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(m=3, 40 chaves) exportada pelo próprio código — o número é o RRN no disco</a:t>
            </a:r>
            <a:endParaRPr/>
          </a:p>
        </p:txBody>
      </p:sp>
      <p:sp>
        <p:nvSpPr>
          <p:cNvPr id="156" name="Google Shape;156;p9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</a:t>
            </a: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— AED-PG-2026          9/36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 txBox="1"/>
          <p:nvPr/>
        </p:nvSpPr>
        <p:spPr>
          <a:xfrm>
            <a:off x="457200" y="331"/>
            <a:ext cx="11247120" cy="87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Classe DiskManager — um nó por I/O</a:t>
            </a:r>
            <a:endParaRPr b="1" sz="2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 txBox="1"/>
          <p:nvPr/>
        </p:nvSpPr>
        <p:spPr>
          <a:xfrm>
            <a:off x="640080" y="2426048"/>
            <a:ext cx="10972800" cy="2554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Toda leitura/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escrita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passa pelo 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DiskManager</a:t>
            </a:r>
            <a:endParaRPr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Sempre que a análise de um nó é necessária  é feita uma leitura 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readNode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), se houver alteração nele, a  escrita é realizada (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writeNode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b="0"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readNote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writeNode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= 1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registro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de PAGE_SIZE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Nessa classe reside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contador de acessos 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métrica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central).</a:t>
            </a:r>
            <a:endParaRPr b="0"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 árvore nunca é totalmente carregada na RAM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</a:t>
            </a: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— AED-PG-2026          10/36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Métodos — visão geral</a:t>
            </a:r>
            <a:endParaRPr/>
          </a:p>
        </p:txBody>
      </p:sp>
      <p:sp>
        <p:nvSpPr>
          <p:cNvPr id="171" name="Google Shape;171;p11"/>
          <p:cNvSpPr txBox="1"/>
          <p:nvPr/>
        </p:nvSpPr>
        <p:spPr>
          <a:xfrm>
            <a:off x="640080" y="2810768"/>
            <a:ext cx="10972800" cy="178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Busca m-vias (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mSearch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Inserção: bottom-up com split (i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nsertB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Remoção: sucessor, redistribuição e fusão 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(deleteB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Monitoramento: 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printTree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height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· exportDot</a:t>
            </a:r>
            <a:endParaRPr/>
          </a:p>
        </p:txBody>
      </p:sp>
      <p:sp>
        <p:nvSpPr>
          <p:cNvPr id="172" name="Google Shape;172;p11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11/36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Busca m-way</a:t>
            </a:r>
            <a:endParaRPr/>
          </a:p>
        </p:txBody>
      </p:sp>
      <p:sp>
        <p:nvSpPr>
          <p:cNvPr id="179" name="Google Shape;179;p12"/>
          <p:cNvSpPr txBox="1"/>
          <p:nvPr/>
        </p:nvSpPr>
        <p:spPr>
          <a:xfrm>
            <a:off x="457200" y="3185229"/>
            <a:ext cx="5852160" cy="1036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Chaves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dividem o universo em faixas</a:t>
            </a:r>
            <a:endParaRPr b="0"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Desce pelo ponteiro da faixa certa </a:t>
            </a:r>
            <a:endParaRPr b="0"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Custo</a:t>
            </a: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≈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altura da árvore</a:t>
            </a:r>
            <a:endParaRPr b="0"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3_final.png" id="180" name="Google Shape;18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0975" y="1228725"/>
            <a:ext cx="7999093" cy="447713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2"/>
          <p:cNvSpPr txBox="1"/>
          <p:nvPr/>
        </p:nvSpPr>
        <p:spPr>
          <a:xfrm>
            <a:off x="6126480" y="5989320"/>
            <a:ext cx="557784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busca segue um caminho da raiz à folha</a:t>
            </a:r>
            <a:endParaRPr b="0" sz="9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12/36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Inserção e split</a:t>
            </a:r>
            <a:endParaRPr/>
          </a:p>
        </p:txBody>
      </p:sp>
      <p:sp>
        <p:nvSpPr>
          <p:cNvPr id="189" name="Google Shape;189;p13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Bottom-up: acha a folha, insere em ordem</a:t>
            </a:r>
            <a:endParaRPr b="0"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Estourou (&gt; m-1 chaves)? → split</a:t>
            </a:r>
            <a:endParaRPr b="0"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A mediana sobe ao pai; pode propagar e criar raiz</a:t>
            </a:r>
            <a:endParaRPr b="0"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É o que mantém a árvore balanceada</a:t>
            </a:r>
            <a:endParaRPr b="0"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13/36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4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Remoção — sucessor, redistribuição e fusão</a:t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Nó interno: troca pelo sucessor in-order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Folha pode ficar em underflow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Redistribuição: empresta de um irmão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Fusão: funde com irmão + chave do pai</a:t>
            </a:r>
            <a:endParaRPr/>
          </a:p>
        </p:txBody>
      </p:sp>
      <p:sp>
        <p:nvSpPr>
          <p:cNvPr id="198" name="Google Shape;198;p14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14/36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 txBox="1"/>
          <p:nvPr/>
        </p:nvSpPr>
        <p:spPr>
          <a:xfrm>
            <a:off x="457200" y="215774"/>
            <a:ext cx="11247120" cy="446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Reaproveitamento – Free List</a:t>
            </a:r>
            <a:endParaRPr b="1" sz="2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5"/>
          <p:cNvSpPr txBox="1"/>
          <p:nvPr/>
        </p:nvSpPr>
        <p:spPr>
          <a:xfrm>
            <a:off x="640080" y="2810768"/>
            <a:ext cx="10972800" cy="178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Remoção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libera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nó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vira nó 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LIVRE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freeNode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encadeia na lista 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(free_head no header)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allocNode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reusa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antes de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crescer o arquivo</a:t>
            </a:r>
            <a:endParaRPr b="0"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Ligável 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setReuse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 —medido no churn</a:t>
            </a:r>
            <a:endParaRPr/>
          </a:p>
        </p:txBody>
      </p:sp>
      <p:sp>
        <p:nvSpPr>
          <p:cNvPr id="206" name="Google Shape;206;p15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</a:t>
            </a: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— AED-PG-2026          15/36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6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Resumo — o que o código faz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411480" y="1051560"/>
            <a:ext cx="5623560" cy="144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Núcleo — Árvore B em disco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Ordem m parametrizável (M em compilação)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100% em disco: 1 nó por I/O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Busca · inserção (split) · remoção (merge)</a:t>
            </a:r>
            <a:endParaRPr b="0" sz="14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Persistência por RRN + header</a:t>
            </a:r>
            <a:endParaRPr/>
          </a:p>
        </p:txBody>
      </p:sp>
      <p:sp>
        <p:nvSpPr>
          <p:cNvPr id="214" name="Google Shape;214;p16"/>
          <p:cNvSpPr txBox="1"/>
          <p:nvPr/>
        </p:nvSpPr>
        <p:spPr>
          <a:xfrm>
            <a:off x="6263640" y="1051560"/>
            <a:ext cx="5623560" cy="539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Extras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Contador de acessos ao disco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Free list ligável (setReuse)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printTree · height · exportDot (Graphviz)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Benchmark CSV + automação (run_all, make_tables)</a:t>
            </a:r>
            <a:endParaRPr/>
          </a:p>
        </p:txBody>
      </p:sp>
      <p:sp>
        <p:nvSpPr>
          <p:cNvPr id="215" name="Google Shape;215;p16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</a:t>
            </a: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— AED-PG-2026          16/36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4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Ferramentas utilizadas</a:t>
            </a:r>
            <a:endParaRPr/>
          </a:p>
        </p:txBody>
      </p:sp>
      <p:sp>
        <p:nvSpPr>
          <p:cNvPr id="222" name="Google Shape;222;p34"/>
          <p:cNvSpPr txBox="1"/>
          <p:nvPr/>
        </p:nvSpPr>
        <p:spPr>
          <a:xfrm>
            <a:off x="411480" y="1051560"/>
            <a:ext cx="5623560" cy="539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Implementação &amp; experimentos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C++17 (g++ -O2) · GNU Make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std::fstream (binário, registros fixos)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Graphviz (grafos) · Python + matplotlib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python-pptx / reportlab (slides)</a:t>
            </a:r>
            <a:endParaRPr/>
          </a:p>
        </p:txBody>
      </p:sp>
      <p:sp>
        <p:nvSpPr>
          <p:cNvPr id="223" name="Google Shape;223;p34"/>
          <p:cNvSpPr txBox="1"/>
          <p:nvPr/>
        </p:nvSpPr>
        <p:spPr>
          <a:xfrm>
            <a:off x="6263640" y="1051560"/>
            <a:ext cx="5623560" cy="539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D4ED8"/>
                </a:solidFill>
                <a:latin typeface="Calibri"/>
              </a:rPr>
              <a:t>Processo &amp; reprodutibilidade</a:t>
            </a:r>
            <a:endParaRPr/>
          </a:p>
          <a:p>
            <a:r>
              <a:rPr sz="1400" b="0">
                <a:solidFill>
                  <a:srgbClr val="111827"/>
                </a:solidFill>
                <a:latin typeface="Calibri"/>
              </a:rPr>
              <a:t>•  Versionamento com Git</a:t>
            </a:r>
          </a:p>
          <a:p>
            <a:r>
              <a:rPr sz="1400" b="0">
                <a:solidFill>
                  <a:srgbClr val="111827"/>
                </a:solidFill>
                <a:latin typeface="Calibri"/>
              </a:rPr>
              <a:t>•  Experimentos reprodutíveis (CSV)</a:t>
            </a:r>
          </a:p>
          <a:p>
            <a:r>
              <a:rPr sz="1400" b="0">
                <a:solidFill>
                  <a:srgbClr val="111827"/>
                </a:solidFill>
                <a:latin typeface="Calibri"/>
              </a:rPr>
              <a:t>•  Build parametrizável: make M=&lt;ordem&gt;</a:t>
            </a:r>
          </a:p>
          <a:p>
            <a:r>
              <a:rPr sz="1400" b="0">
                <a:solidFill>
                  <a:srgbClr val="111827"/>
                </a:solidFill>
                <a:latin typeface="Calibri"/>
              </a:rPr>
              <a:t>•  Validação cruzada em 2 máquinas</a:t>
            </a:r>
          </a:p>
        </p:txBody>
      </p:sp>
      <p:sp>
        <p:nvSpPr>
          <p:cNvPr id="224" name="Google Shape;224;p34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34/36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Demonstração — o programa rodando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457200" y="1051560"/>
            <a:ext cx="11247120" cy="938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Compilação → menu → CRUD + métricas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m=3 e m=5: a árvore ficar pode ficar mais rasa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Captura real da execução</a:t>
            </a:r>
            <a:endParaRPr/>
          </a:p>
        </p:txBody>
      </p:sp>
      <p:pic>
        <p:nvPicPr>
          <p:cNvPr descr="demo_btree.gif" id="232" name="Google Shape;2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5145" y="2743200"/>
            <a:ext cx="5331229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7"/>
          <p:cNvSpPr txBox="1"/>
          <p:nvPr/>
        </p:nvSpPr>
        <p:spPr>
          <a:xfrm>
            <a:off x="2286000" y="615648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make M=3/M=5 → menu interativo → grafo exportado pelo programa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</a:t>
            </a: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— AED-PG-2026          17/36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experimentos — a matriz de testes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Exp.1 — impacto da ordem m (N=10⁵)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Exp.2 — escala N (10³–10⁶)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Exp.3 — ocupação com/sem reuso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Exp.4 — CPU vs I/O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Validação em 2 máquinas</a:t>
            </a:r>
            <a:endParaRPr/>
          </a:p>
        </p:txBody>
      </p:sp>
      <p:pic>
        <p:nvPicPr>
          <p:cNvPr descr="chart_io_vs_N.png" id="242" name="Google Shape;2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1371600"/>
            <a:ext cx="5577840" cy="310392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8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18/36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Metodologia e ambiente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Driver não interativo → CSV de métricas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Cada configuração reconstruída do zero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Modos aleatório e sequencial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getrusage: CPU usuário / sistema / espera de I/O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2 máquinas: Notebook × Titan (USP)</a:t>
            </a:r>
            <a:endParaRPr/>
          </a:p>
        </p:txBody>
      </p:sp>
      <p:sp>
        <p:nvSpPr>
          <p:cNvPr id="251" name="Google Shape;251;p19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19/36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Métricas utilizadas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Acessos ao disco — métrica central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Altura (~ log_m 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Ocupação: nós, livres e bytes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Tempo: wall · CPU (user/sys) · espera de I/O</a:t>
            </a:r>
            <a:endParaRPr/>
          </a:p>
        </p:txBody>
      </p:sp>
      <p:pic>
        <p:nvPicPr>
          <p:cNvPr descr="chart_height_vs_m.png" id="259" name="Google Shape;2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1371600"/>
            <a:ext cx="5577840" cy="3103921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0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20/36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Impacto da ordem m — I/O por busca (N=10⁵)</a:t>
            </a:r>
            <a:endParaRPr/>
          </a:p>
        </p:txBody>
      </p:sp>
      <p:graphicFrame>
        <p:nvGraphicFramePr>
          <p:cNvPr id="267" name="Google Shape;267;p21"/>
          <p:cNvGraphicFramePr/>
          <p:nvPr/>
        </p:nvGraphicFramePr>
        <p:xfrm>
          <a:off x="365760" y="1051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{CC16A1BC-36C8-4648-86B1-20EBE51095D4}</a:tableStyleId>
              </a:tblPr>
              <a:tblGrid>
                <a:gridCol w="899150"/>
                <a:gridCol w="899150"/>
                <a:gridCol w="899150"/>
                <a:gridCol w="899150"/>
                <a:gridCol w="899150"/>
                <a:gridCol w="899150"/>
              </a:tblGrid>
              <a:tr h="351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altura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busca I/O/op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inser. I/O/op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rem. I/O/op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arquivo (KB)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13.25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16.90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19.67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2,040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10.48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13.51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16.76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1,829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8.63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11.50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13.52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1,589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6.79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9.05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10.91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1,411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4.90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7.00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8.16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1,251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3.95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5.95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6.77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1,189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64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2.98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5.04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5.64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1,146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2.99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4.97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5.51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1,131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128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2.99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4.92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5.41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1,121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256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2.99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4.57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5.00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1,088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512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4.41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1,053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3.99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4.34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1,016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pic>
        <p:nvPicPr>
          <p:cNvPr descr="chart_io_vs_m.png" id="268" name="Google Shape;26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9320" y="1280160"/>
            <a:ext cx="5943600" cy="3307457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I/O por busca cai de 13,25 (m=3, altura 14) para 2,00 (m≥512, altura 2). Ganho satura por volta de m≈64-128.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21/36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Impacto da ordem m — altura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Altura ≈ acessos por busca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m=3 → 14 níveis (fundo demais)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m cresce → altura despenca em degraus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m grande → altura 2</a:t>
            </a:r>
            <a:endParaRPr/>
          </a:p>
        </p:txBody>
      </p:sp>
      <p:pic>
        <p:nvPicPr>
          <p:cNvPr descr="chart_height_vs_m.png" id="278" name="Google Shape;2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1371600"/>
            <a:ext cx="5577840" cy="3103921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2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22/36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 por operação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Busca: a mais barata (raiz → folha)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Inserção: split reescreve nós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Remoção: a mais cara (redistribui / funde)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Todas caem com m e saturam juntas</a:t>
            </a:r>
            <a:endParaRPr/>
          </a:p>
        </p:txBody>
      </p:sp>
      <p:pic>
        <p:nvPicPr>
          <p:cNvPr descr="chart_phase_io.png" id="287" name="Google Shape;28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1371600"/>
            <a:ext cx="5577840" cy="310392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23/36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Escala do conjunto (mil → 1 milhão)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N de mil a um milhão de chaves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Acessos por busca quase não mudam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Custo logarítmico na base m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Escalável: cresce o dado, não o custo</a:t>
            </a:r>
            <a:endParaRPr/>
          </a:p>
        </p:txBody>
      </p:sp>
      <p:pic>
        <p:nvPicPr>
          <p:cNvPr descr="chart_io_vs_N.png" id="296" name="Google Shape;2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1371600"/>
            <a:ext cx="5577840" cy="3103921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4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24/36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Reaproveitamento de nós (churn)</a:t>
            </a:r>
            <a:endParaRPr/>
          </a:p>
        </p:txBody>
      </p:sp>
      <p:graphicFrame>
        <p:nvGraphicFramePr>
          <p:cNvPr id="304" name="Google Shape;304;p25"/>
          <p:cNvGraphicFramePr/>
          <p:nvPr/>
        </p:nvGraphicFramePr>
        <p:xfrm>
          <a:off x="365760" y="1051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{CC16A1BC-36C8-4648-86B1-20EBE51095D4}</a:tableStyleId>
              </a:tblPr>
              <a:tblGrid>
                <a:gridCol w="1079000"/>
                <a:gridCol w="1079000"/>
                <a:gridCol w="1079000"/>
                <a:gridCol w="1079000"/>
                <a:gridCol w="1079000"/>
              </a:tblGrid>
              <a:tr h="653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sem reuso (KB)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com reuso (KB)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economia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10,000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342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241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30%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100,000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3,407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2,404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29%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10,000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266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190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29%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100,000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2,663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1,905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28%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10,000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196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144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27%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100,000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1,931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1,404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27%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pic>
        <p:nvPicPr>
          <p:cNvPr descr="chart_reuse.png" id="305" name="Google Shape;3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9320" y="1280160"/>
            <a:ext cx="5943600" cy="330745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5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 reaproveitamento economiza ~27-30% do tamanho do arquivo neste workload.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25/36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6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Dois sistemas — tempo (wall)</a:t>
            </a:r>
            <a:endParaRPr/>
          </a:p>
        </p:txBody>
      </p:sp>
      <p:graphicFrame>
        <p:nvGraphicFramePr>
          <p:cNvPr id="314" name="Google Shape;314;p26"/>
          <p:cNvGraphicFramePr/>
          <p:nvPr/>
        </p:nvGraphicFramePr>
        <p:xfrm>
          <a:off x="365760" y="1051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{CC16A1BC-36C8-4648-86B1-20EBE51095D4}</a:tableStyleId>
              </a:tblPr>
              <a:tblGrid>
                <a:gridCol w="1079000"/>
                <a:gridCol w="1079000"/>
                <a:gridCol w="1079000"/>
                <a:gridCol w="1079000"/>
                <a:gridCol w="1079000"/>
              </a:tblGrid>
              <a:tr h="914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acessos disco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Notebook wall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Titan wall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speedup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4.982.252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6.05 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7.78 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0.78×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2.006.878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2.61 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2.23 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1.17×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1.346.869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2.02 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1.48 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1.36×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1.033.255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2.22 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1.96 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1.14×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pic>
        <p:nvPicPr>
          <p:cNvPr descr="chart_wall_machines.png" id="315" name="Google Shape;31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9320" y="1280160"/>
            <a:ext cx="5943600" cy="330745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6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Mesmo programa, 2 máquinas: acessos a disco idênticos; só o tempo muda — a curva tem a mesma forma.</a:t>
            </a:r>
            <a:endParaRPr/>
          </a:p>
        </p:txBody>
      </p:sp>
      <p:sp>
        <p:nvSpPr>
          <p:cNvPr id="317" name="Google Shape;317;p26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26/36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7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Dois sistemas — CPU e determinismo</a:t>
            </a:r>
            <a:endParaRPr/>
          </a:p>
        </p:txBody>
      </p:sp>
      <p:sp>
        <p:nvSpPr>
          <p:cNvPr id="324" name="Google Shape;324;p27"/>
          <p:cNvSpPr txBox="1"/>
          <p:nvPr/>
        </p:nvSpPr>
        <p:spPr>
          <a:xfrm>
            <a:off x="457200" y="1051560"/>
            <a:ext cx="11247120" cy="1874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Tempo é quase todo CPU de sistema (I/O), não espera de disco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Acessos idênticos: todos os pontos sobre y=x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Determinística e portável</a:t>
            </a:r>
            <a:endParaRPr/>
          </a:p>
        </p:txBody>
      </p:sp>
      <p:pic>
        <p:nvPicPr>
          <p:cNvPr descr="chart_cpu_split.png" id="325" name="Google Shape;32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274" y="3200400"/>
            <a:ext cx="5258252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7"/>
          <p:cNvSpPr txBox="1"/>
          <p:nvPr/>
        </p:nvSpPr>
        <p:spPr>
          <a:xfrm>
            <a:off x="365760" y="615648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CPU usuário vs sistema (I/O) nas 2 máquinas</a:t>
            </a:r>
            <a:endParaRPr/>
          </a:p>
        </p:txBody>
      </p:sp>
      <p:pic>
        <p:nvPicPr>
          <p:cNvPr descr="chart_determinism.png" id="327" name="Google Shape;32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9154" y="3200400"/>
            <a:ext cx="5258252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7"/>
          <p:cNvSpPr txBox="1"/>
          <p:nvPr/>
        </p:nvSpPr>
        <p:spPr>
          <a:xfrm>
            <a:off x="6263640" y="615648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Acessos a disco idênticos — pontos sobre y=x</a:t>
            </a:r>
            <a:endParaRPr/>
          </a:p>
        </p:txBody>
      </p:sp>
      <p:sp>
        <p:nvSpPr>
          <p:cNvPr id="329" name="Google Shape;329;p27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27/36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8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8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Dois sistemas — validação cruzada</a:t>
            </a:r>
            <a:endParaRPr/>
          </a:p>
        </p:txBody>
      </p:sp>
      <p:sp>
        <p:nvSpPr>
          <p:cNvPr id="336" name="Google Shape;336;p28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Notebook × Titan (USP)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Acessos a disco idênticos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Só o tempo varia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Comparação via compare.py</a:t>
            </a:r>
            <a:endParaRPr/>
          </a:p>
        </p:txBody>
      </p:sp>
      <p:pic>
        <p:nvPicPr>
          <p:cNvPr descr="chart_machines.png" id="337" name="Google Shape;33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1371600"/>
            <a:ext cx="5577840" cy="3103921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8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28/36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9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Dois sistemas — escala do conjunto</a:t>
            </a:r>
            <a:endParaRPr/>
          </a:p>
        </p:txBody>
      </p:sp>
      <p:sp>
        <p:nvSpPr>
          <p:cNvPr id="345" name="Google Shape;345;p29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N até 1 milhão (m=100), nas 2 máquinas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Tempo cresce devagar (logarítmico)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Mesma tendência; Titan mais rápido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Prova prática de escalabilidade</a:t>
            </a:r>
            <a:endParaRPr/>
          </a:p>
        </p:txBody>
      </p:sp>
      <p:pic>
        <p:nvPicPr>
          <p:cNvPr descr="chart_scale_machines.png" id="346" name="Google Shape;34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1371600"/>
            <a:ext cx="5577840" cy="3103921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9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29/36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se usássemos union no header? (sugestão do prof.)</a:t>
            </a:r>
            <a:endParaRPr/>
          </a:p>
        </p:txBody>
      </p:sp>
      <p:sp>
        <p:nvSpPr>
          <p:cNvPr id="354" name="Google Shape;354;p30"/>
          <p:cNvSpPr txBox="1"/>
          <p:nvPr/>
        </p:nvSpPr>
        <p:spPr>
          <a:xfrm>
            <a:off x="411480" y="1051560"/>
            <a:ext cx="5623560" cy="539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Como está hoje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Header e BNode são tipos separados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E/S serializa campo a campo (memcpy)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Header usa 1 página inteira (RRN uniforme)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Nó livre esconde o próximo em K[1]</a:t>
            </a:r>
            <a:endParaRPr/>
          </a:p>
        </p:txBody>
      </p:sp>
      <p:sp>
        <p:nvSpPr>
          <p:cNvPr id="355" name="Google Shape;355;p30"/>
          <p:cNvSpPr txBox="1"/>
          <p:nvPr/>
        </p:nvSpPr>
        <p:spPr>
          <a:xfrm>
            <a:off x="6263640" y="1051560"/>
            <a:ext cx="5623560" cy="539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Com union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Página única: header e nós no mesmo tamanho fixo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Lê/escreve a página inteira → menos código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FreeNode.next explícito (autodocumentado)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Custo: portabilidade do binário (padding/endianness)</a:t>
            </a:r>
            <a:endParaRPr/>
          </a:p>
        </p:txBody>
      </p:sp>
      <p:sp>
        <p:nvSpPr>
          <p:cNvPr id="356" name="Google Shape;356;p30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30/36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1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Dificuldades técnicas</a:t>
            </a:r>
            <a:endParaRPr/>
          </a:p>
        </p:txBody>
      </p:sp>
      <p:sp>
        <p:nvSpPr>
          <p:cNvPr id="363" name="Google Shape;363;p31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Indexação 1-based (RRN 0 = header)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Remoção: manter o path para reparar underflow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eofbit do fstream → resolvido com clear()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Serialização campo a campo é propensa a erro</a:t>
            </a:r>
            <a:endParaRPr/>
          </a:p>
        </p:txBody>
      </p:sp>
      <p:sp>
        <p:nvSpPr>
          <p:cNvPr id="364" name="Google Shape;364;p31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31/36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Vantagens × Desvantagens</a:t>
            </a:r>
            <a:endParaRPr/>
          </a:p>
        </p:txBody>
      </p:sp>
      <p:sp>
        <p:nvSpPr>
          <p:cNvPr id="371" name="Google Shape;371;p32"/>
          <p:cNvSpPr txBox="1"/>
          <p:nvPr/>
        </p:nvSpPr>
        <p:spPr>
          <a:xfrm>
            <a:off x="411480" y="1051560"/>
            <a:ext cx="5623560" cy="539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Vantagens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Altura baixa → poucos acessos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Sempre balanceada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Ideal para disco e índices de SGBD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Determinística + reuso de espaço</a:t>
            </a:r>
            <a:endParaRPr/>
          </a:p>
        </p:txBody>
      </p:sp>
      <p:sp>
        <p:nvSpPr>
          <p:cNvPr id="372" name="Google Shape;372;p32"/>
          <p:cNvSpPr txBox="1"/>
          <p:nvPr/>
        </p:nvSpPr>
        <p:spPr>
          <a:xfrm>
            <a:off x="6263640" y="1051560"/>
            <a:ext cx="5623560" cy="539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Desvantagens / custos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Nós subocupados (~50% no sequencial)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Remoção complexa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m muito grande → mais CPU por nó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Existe um m ótimo (tamanho de bloco)</a:t>
            </a:r>
            <a:endParaRPr/>
          </a:p>
        </p:txBody>
      </p:sp>
      <p:sp>
        <p:nvSpPr>
          <p:cNvPr id="373" name="Google Shape;373;p32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32/36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Aplicações práticas</a:t>
            </a:r>
            <a:endParaRPr/>
          </a:p>
        </p:txBody>
      </p:sp>
      <p:sp>
        <p:nvSpPr>
          <p:cNvPr id="380" name="Google Shape;380;p33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SGBDs: MySQL/InnoDB, PostgreSQL, Oracle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Sistemas de arquivos: NTFS, APFS, ext4, Btrfs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Chave-valor: SQLite, LMDB, BerkeleyDB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Uso natural: índice de um banco em disco</a:t>
            </a:r>
            <a:endParaRPr/>
          </a:p>
        </p:txBody>
      </p:sp>
      <p:sp>
        <p:nvSpPr>
          <p:cNvPr id="381" name="Google Shape;381;p33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33/36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5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/>
          </a:p>
        </p:txBody>
      </p:sp>
      <p:sp>
        <p:nvSpPr>
          <p:cNvPr id="388" name="Google Shape;388;p35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Árvore B 100% em disco, 1 nó por I/O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I/O por operação cai com m até saturar (~64-128)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Free list economiza ~27-30% de espaço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Determinística: acessos idênticos em 2 máquinas</a:t>
            </a:r>
            <a:endParaRPr/>
          </a:p>
        </p:txBody>
      </p:sp>
      <p:sp>
        <p:nvSpPr>
          <p:cNvPr id="389" name="Google Shape;389;p35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35/36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6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/>
          </a:p>
        </p:txBody>
      </p:sp>
      <p:sp>
        <p:nvSpPr>
          <p:cNvPr id="396" name="Google Shape;396;p36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Comer, D. (1979). The Ubiquitous B-Tree. ACM Computing Surveys.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Knuth, D. The Art of Computer Programming, Vol. 3.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Bayer, R. &amp; McCreight, E. (1972). Large Ordered Indexes.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Baranauskas, J. A. Slides AED-PG-2026 (Árvores B). DCM / USP.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Obrigado! Perguntas?</a:t>
            </a:r>
            <a:endParaRPr/>
          </a:p>
        </p:txBody>
      </p:sp>
      <p:sp>
        <p:nvSpPr>
          <p:cNvPr id="397" name="Google Shape;397;p36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36/36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Cezio Ferreira</dc:creator>
</cp:coreProperties>
</file>