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5544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Árvore B em Memória Secundária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11827"/>
                </a:solidFill>
                <a:latin typeface="Calibri"/>
              </a:rPr>
              <a:t>Implementação de uma classe Árvore B de ordem m operando estritamente em disco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Algoritmos e Estruturas de Dados — AED-PG-2026 (5955001-3)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Prof. Dr. José Augusto Baranauskas — DCM / USP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Linguagem: C++17  ·  1º Semestre/2026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Alunos: Cássio Takarada  ·  Cézio Luiz Ferreira Junior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2. Decisões de 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1247120" cy="2697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Ordem m é constante simbólica de compilação (M): estrutura totalmente parametrizada.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Raiz da árvore: armazenada no header (registro 0) do arquivo — campo root.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Um nó por I/O: readNode/writeNode de um registro de PAGE_SIZE; a árvore NUNCA é carregada inteira em memória.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Registro do nó: n  ·  A[0..m-1] (ponteiros RRN)  ·  K[0..m-1] (chaves).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111827"/>
                </a:solidFill>
                <a:latin typeface="Calibri"/>
              </a:rPr>
              <a:t>•  Reaproveitamento de nós: estrutura = lista encadeada de livres (pilha LIFO) no próprio arquivo - free_head no header; cada nó livre marca n=-1 e aponta o próximo em K[1]; allocNode reusa antes de estender o arquivo.</a:t>
            </a:r>
          </a:p>
        </p:txBody>
      </p:sp>
      <p:pic>
        <p:nvPicPr>
          <p:cNvPr id="5" name="Picture 4" descr="m3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11247120" cy="24074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27789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(m=3) com 40 chaves — exportada do nosso código (Graphviz); cada caixa mostra o RRN do nó em disco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3. Métodos implementados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mSearch / mSearchPath - busca m-way da raiz à folha; retorna (RRN, índice, achou).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insertB - inserção bottom-up com propagação de split (Equação 1).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deleteB - remoção com sucessor in-order, redistribuição (empréstimo) e fusão (merge).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Auxiliares: splitNode, insertInNode, removeFromNode, findSuccessorLeaf.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Monitoramento: printTree (hierárquico), height, exportDot (Graphviz).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DiskManager: readNode, writeNode, allocNode, freeNode, contador de acessos, setReuse.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bench - driver experimental não interativo (CSV de métricas).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Resumo — tudo que o código faz (núcleo + extras)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Núcleo — Árvore B em disco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Árvore B de ordem m parametrizável (M em tempo de compilação).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Opera 100% em disco: 1 nó por I/O; nada é carregado em RAM.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Busca m-way (mSearch / mSearchPath).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Inserção bottom-up com split (insertB).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Remoção com sucessor, redistribuição e fusão (deleteB).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Persistência: header (root, total, free_head) + nós de tamanho fixo, acesso direto por RRN.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051560"/>
            <a:ext cx="56235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Calibri"/>
              </a:rPr>
              <a:t>Extras / funcionalidades acessórias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Contador de acessos ao disco (métrica central da avaliação).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Reaproveitamento de nós via free list, com liga/desliga (setReuse).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Impressão hierárquica (printTree) e cálculo de altura (height).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Exportação Graphviz (exportDot) -&gt; imagens PNG dos grafos.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Medição de ocupação: total_nodes, free_nodes, fileSizeBytes.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Benchmark (bench): CSV com I/O, tempo CPU/IO (getrusage), altura, nós, tamanho.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Automação: run_all.sh + make_tables.py (tabelas/gráficos) + compare.py (2 máquinas).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11827"/>
                </a:solidFill>
                <a:latin typeface="Calibri"/>
              </a:rPr>
              <a:t>•  Testes de stress + menu interativo (CRUD + métricas).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4. Análises efetuadas (experimentos)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1 - Impacto da ordem m: m em {3,4,5,8,16,32,64,100,128,256,512,1000}, N=10^5.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2 - Escala do conjunto: N em {10^3,10^4,10^5,10^6}, m em {3,100,1000}.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3 - Ocupação do arquivo: churn COM e SEM reaproveitamento.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Exp. 4 - Tempo: CPU (user+sys) vs espera de I/O (getrusage).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Modos aleatório e sequencial em todos.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Novidade: validação em 2 máquinas (Notebook x Titan/USP) - disco idêntico.</a:t>
            </a:r>
          </a:p>
        </p:txBody>
      </p:sp>
      <p:pic>
        <p:nvPicPr>
          <p:cNvPr id="5" name="Picture 4" descr="chart_io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5. Métricas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Acessos ao disco - contador readNode+writeNode; total e média/op (métrica honesta de I/O).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Altura da árvore - nº de níveis (~ log_m N).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Ocupação - nós físicos, nós livres e tamanho em bytes.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Tempo de parede (wall) - relógio de alta resolução.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Tempo de CPU - usuário (lógica) e sistema (syscalls de I/O), via getrusage.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Espera de I/O - wall menos CPU.</a:t>
            </a:r>
          </a:p>
        </p:txBody>
      </p:sp>
      <p:pic>
        <p:nvPicPr>
          <p:cNvPr id="5" name="Picture 4" descr="chart_height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6. Tabela de Resultados - impacto de m (N=10^5, aleatório)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altura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busca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inser.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rem. I/O/op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arquivo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16.90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10.48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16.76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1,829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8.63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13.52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1,589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6.79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9.05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10.91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1,411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8.16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3.95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5.95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6.77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1,189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1,131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256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4.57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5.00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1,088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3.99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4.34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1,016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io_vs_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I/O por busca cai de 13,25 (m=3, altura 14) para 2,00 (m&gt;=512, altura 2). Ganho satura por volta de m~64-128.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6b. Resultados - reaproveitamento de nós (churn)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53949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078992"/>
                <a:gridCol w="1078992"/>
                <a:gridCol w="1078992"/>
                <a:gridCol w="1078992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sem reuso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com reuso (KB)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economia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3,407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2,404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29%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2,663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1,905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28%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11827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1,931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11827"/>
                          </a:solidFill>
                        </a:rPr>
                        <a:t>27%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chart_re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280160"/>
            <a:ext cx="5943600" cy="33074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 reaproveitamento de nós economiza ~27-30% do tamanho do arquivo neste workload.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7. Validação em duas máquinas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585216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Execução em duas máquinas: Notebook x Titan (USP).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Acessos a disco IDÊNTICOS nas duas — resultado determinístico, independente do hardware.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Apenas o tempo de execução varia (CPU, disco e carga da máquina).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11827"/>
                </a:solidFill>
                <a:latin typeface="Calibri"/>
              </a:rPr>
              <a:t>•  Comparação automatizada via compare.py a partir dos CSVs de cada máquina.</a:t>
            </a:r>
          </a:p>
        </p:txBody>
      </p:sp>
      <p:pic>
        <p:nvPicPr>
          <p:cNvPr id="5" name="Picture 4" descr="chart_mach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5577840" cy="31039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8. Dificuldades · Vantagens x Desvantagens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Dificuldades: indexação 1-based dos nós; ordem do path no reparo de underflow; eofbit do fstream; garantir 1 nó por I/O (nada em RAM).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Vantagens da Árvore B: altura baixa =&gt; pouquíssimos acessos a disco; sempre balanceada; ideal para memória secundária / SGBDs.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Desvantagens: nós podem ficar subocupados (~50% no caso sequencial); remoção é complexa; para m muito grande, a busca dentro do nó passa a custar CPU.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Trade-off central: m maior =&gt; menos I/O, mais CPU por 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9. Aplicações práticas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Índices de SGBDs: B-tree / B+ tree são a base dos índices de MySQL/InnoDB, PostgreSQL, Oracle e SQL Server.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Sistemas de arquivos: NTFS, HFS+/APFS, ext4 (HTree) e Btrfs usam B-trees para diretórios e metadados.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Armazenamento chave-valor / embarcado: BerkeleyDB, SQLite, LMDB.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Onde eu usaria: como índice (primário ou secundário) de um banco de dados em disco - exatamente o cenário deste trabalho.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10. Conclusão e Referências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 I/O por operação cai com m até SATURAR (ponto ~ m=64-128): existe um m ótimo (nó dimensionado para um bloco de disco).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O reaproveitamento de nós (free list) economiza ~27-30% do tamanho do arquivo no workload de churn.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Resultados determinísticos: acessos a disco IDÊNTICOS em 2 máquinas (Notebook x Titan/USP); só o tempo varia.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Referências: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Comer, D. (1979). The Ubiquitous B-Tree. ACM Computing Surveys.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Knuth, D. The Art of Computer Programming, Vol. 3 - Sorting and Searching.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Folk, M. &amp; Zoellick, B. File Structures.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11827"/>
                </a:solidFill>
                <a:latin typeface="Calibri"/>
              </a:rPr>
              <a:t>•     - Baranauskas, J. A. Slides AED-PG-2026 (Árvores B).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55664"/>
            <a:ext cx="11247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Árvore B em Memória Secundária — AED-PG-2026        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