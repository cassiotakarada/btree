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1554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Árvore B em Memória Secundária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Implementação de uma classe Árvore B de ordem m operando estritamente em disco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Algoritmos e Estruturas de Dados — AED-PG-2026 (5955001-3)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Prof. Dr. José Augusto Baranauskas — DCM / USP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Linguagem: C++17  ·  1º Semestre/2026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Aluno: Cássio Takarada   (demais integrantes: ____________)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 Decisões de 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Ordem m é constante simbólica de compilação (M): estrutura totalmente parametrizada.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Raiz da árvore: armazenada no header (registro 0) do arquivo — campo root.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Um nó por I/O: readNode/writeNode de um registro de PAGE_SIZE; a árvore NUNCA é carregada inteira em memória.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Registro do nó: n  ·  A[0..m-1] (ponteiros RRN)  ·  K[0..m-1] (chaves).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Reaproveitamento de nós: free list encadeada no próprio arquivo (free_head no header; nó livre marca n=-1 e guarda o próximo em K[1]).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allocNode reutiliza a free list antes de estender o arquivo.</a:t>
            </a:r>
          </a:p>
        </p:txBody>
      </p:sp>
      <p:pic>
        <p:nvPicPr>
          <p:cNvPr id="5" name="Picture 4" descr="m3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188720"/>
            <a:ext cx="4846320" cy="10373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2246059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(m=3) — 40 chaves; cada nó traz seu RRN em disco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 Métodos implementados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mSearch / mSearchPath - busca m-way da raiz à folha; retorna (RRN, índice, achou).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insertB - inserção bottom-up com propagação de split (Equação 1).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deleteB - remoção com sucessor in-order, redistribuição (empréstimo) e fusão (merge).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Auxiliares: splitNode, insertInNode, removeFromNode, findSuccessorLeaf.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Monitoramento: printTree (hierárquico), height, exportDot (Graphviz).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DiskManager: readNode, writeNode, allocNode, freeNode, contador de acessos, setReuse.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bench - driver experimental não interativo (CSV de métricas).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 Análises efetuadas (experimentos)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Exp. 1 - Impacto da ordem m: m em {3,4,5,8,16,32,64,100,128,256,512,1000}, N=10^5.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Exp. 2 - Escala do conjunto: N em {10^3,10^4,10^5,10^6}, m em {3,100,1000}.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Exp. 3 - Ocupação do arquivo: workload de churn COM e SEM reaproveitamento.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Exp. 4 - Tempo de execução: CPU (user+sys) vs espera de I/O (getrusage).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Modos aleatório e sequencial em todos os experimentos.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Novidade: validação cruzada em 2 máquinas (Notebook x Titan/USP) - métricas de disco idênticas.</a:t>
            </a:r>
          </a:p>
        </p:txBody>
      </p:sp>
      <p:pic>
        <p:nvPicPr>
          <p:cNvPr id="5" name="Picture 4" descr="chart_io_vs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188720"/>
            <a:ext cx="4846320" cy="2827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 Métricas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Acessos ao disco - contador de readNode+writeNode; total e média por operação (a métrica honesta de I/O).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Altura da árvore - nº de níveis (~ log_m N).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Ocupação do arquivo - nós físicos (total_nodes), nós livres (free_nodes) e tamanho em bytes.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Tempo de parede (wall) - relógio de alta resolução.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Tempo de CPU - usuário (lógica) e sistema (syscalls de I/O), via getrusage.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Espera de I/O - wall menos CPU.</a:t>
            </a:r>
          </a:p>
        </p:txBody>
      </p:sp>
      <p:pic>
        <p:nvPicPr>
          <p:cNvPr id="5" name="Picture 4" descr="chart_height_vs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188720"/>
            <a:ext cx="4846320" cy="2827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6. Tabela de Resultados - impacto de m (N=10^5, aleatório)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5760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altura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busca I/O/op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inser. I/O/op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rem. I/O/op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arquivo (KB)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19.67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10.48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13.51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16.76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1,829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8.63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13.52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6.79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9.05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10.91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1,411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8.16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3.95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5.95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6.77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1,189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2.99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4.97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5.51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1,131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256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2.99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4.57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5.00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1,088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2.00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3.99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4.34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1,016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hart_io_vs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2648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I/O por busca cai de 13,25 (m=3, altura 14) para 2,00 (m&gt;=512, altura 2). Ganho satura por volta de m~64-128.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6b. Resultados - reaproveitamento de nós (churn)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5760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sem reuso (KB)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 reuso (KB)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economia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100,000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3,407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2,404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100,000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2,663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1,905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28%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11827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100,000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1,931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1,404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11827"/>
                          </a:solidFill>
                        </a:rPr>
                        <a:t>27%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hart_re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2648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O reaproveitamento de nós economiza ~27-30% do tamanho do arquivo neste workload.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7. Utilização de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Ferramenta: Claude (Anthropic) via Claude Code CLI - auxílio ao desenvolvimento.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Síntese e discussão dos pseudocódigos dos slides do professor.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Identificação e correção de 2 bugs: (1) stale-header em insertB; (2) eofbit do fstream em escritas além do fim.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Geração do harness experimental (bench), tabelas, gráficos e desta apresentação.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•  Todo o código foi revisado e validado manualmente pelo autor.</a:t>
            </a:r>
          </a:p>
        </p:txBody>
      </p:sp>
      <p:pic>
        <p:nvPicPr>
          <p:cNvPr id="5" name="Picture 4" descr="chart_mach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188720"/>
            <a:ext cx="4846320" cy="2827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8. Dificuldades · Vantagens x Desvantagens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Dificuldades: indexação 1-based dos nós; ordem do path no reparo de underflow; eofbit do fstream; garantir 1 nó por I/O (nada em RAM).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Vantagens da Árvore B: altura baixa =&gt; pouquíssimos acessos a disco; sempre balanceada; ideal para memória secundária / SGBDs.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Desvantagens: nós podem ficar subocupados (~50% no caso sequencial); remoção é complexa; para m muito grande, a busca dentro do nó passa a custar CPU.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Trade-off central: m maior =&gt; menos I/O, mais CPU por nó.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9-10. Aplicações práticas · Conclusão · 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Aplicações: índices de SGBDs (InnoDB/MySQL, PostgreSQL), sistemas de arquivos (NTFS, HFS+, ext4 HTree), key-value stores.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Conclusão: o I/O por operação cai com m até saturar (m~64-128); o reaproveitamento economiza ~27-30% de espaço; resultados determinísticos validados em 2 máquinas.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Referências: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   - Comer, D. (1979). The Ubiquitous B-Tree. ACM Computing Surveys.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   - Knuth, D. The Art of Computer Programming, Vol. 3 - Sorting and Searching.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   - Folk, M. &amp; Zoellick, B. File Structures.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   - Baranauskas, J. A. Slides AED-PG-2026 (Árvores B).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Árvore B em Memória Secundária — AED-PG-2026       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