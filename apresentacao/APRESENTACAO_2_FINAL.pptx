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92" r:id="rId44"/>
    <p:sldId id="281" r:id="rId32"/>
    <p:sldId id="293" r:id="rId45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gzqM8isCC5Dw4O6MfCWkqMpw6u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16A1BC-36C8-4648-86B1-20EBE51095D4}">
  <a:tblStyle styleId="{CC16A1BC-36C8-4648-86B1-20EBE51095D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7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customschemas.google.com/relationships/presentationmetadata" Target="metadata"/><Relationship Id="rId44" Type="http://schemas.openxmlformats.org/officeDocument/2006/relationships/slide" Target="slides/slide26.xml"/><Relationship Id="rId45" Type="http://schemas.openxmlformats.org/officeDocument/2006/relationships/slide" Target="slides/slide28.xml"/><Relationship Id="rId46" Type="http://schemas.openxmlformats.org/officeDocument/2006/relationships/slide" Target="slides/slide1.xml"/><Relationship Id="rId47" Type="http://schemas.openxmlformats.org/officeDocument/2006/relationships/slide" Target="slides/slide2.xml"/><Relationship Id="rId48" Type="http://schemas.openxmlformats.org/officeDocument/2006/relationships/slide" Target="slides/slide3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7" Type="http://schemas.openxmlformats.org/officeDocument/2006/relationships/slide" Target="slides/slide12.xml"/><Relationship Id="rId58" Type="http://schemas.openxmlformats.org/officeDocument/2006/relationships/slide" Target="slides/slide13.xml"/><Relationship Id="rId59" Type="http://schemas.openxmlformats.org/officeDocument/2006/relationships/slide" Target="slides/slide14.xml"/><Relationship Id="rId6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_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_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_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_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_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1720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 dirty="0">
                <a:solidFill>
                  <a:srgbClr val="1D4ED8"/>
                </a:solidFill>
                <a:latin typeface="Calibri"/>
              </a:rPr>
              <a:t>Par</a:t>
            </a:r>
            <a:r>
              <a:rPr lang="pt-BR" sz="1500" b="1" dirty="0">
                <a:solidFill>
                  <a:srgbClr val="1D4ED8"/>
                </a:solidFill>
                <a:latin typeface="Calibri"/>
              </a:rPr>
              <a:t>te 1</a:t>
            </a:r>
            <a:r>
              <a:rPr sz="1500" b="1" dirty="0">
                <a:solidFill>
                  <a:srgbClr val="1D4ED8"/>
                </a:solidFill>
                <a:latin typeface="Calibri"/>
              </a:rPr>
              <a:t> — a est</a:t>
            </a:r>
            <a:r>
              <a:rPr lang="pt-BR" sz="1500" b="1" dirty="0">
                <a:solidFill>
                  <a:srgbClr val="1D4ED8"/>
                </a:solidFill>
                <a:latin typeface="Calibri"/>
              </a:rPr>
              <a:t>rutura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Contextualização: 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Por </a:t>
            </a:r>
            <a:r>
              <a:rPr lang="pt-BR" sz="1400" dirty="0">
                <a:solidFill>
                  <a:srgbClr val="111827"/>
                </a:solidFill>
                <a:latin typeface="Calibri"/>
              </a:rPr>
              <a:t>que 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disco e </a:t>
            </a:r>
            <a:r>
              <a:rPr lang="pt-BR" sz="1400" dirty="0">
                <a:solidFill>
                  <a:srgbClr val="111827"/>
                </a:solidFill>
                <a:latin typeface="Calibri"/>
              </a:rPr>
              <a:t>por que Árvore B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 ?</a:t>
            </a:r>
            <a:endParaRPr sz="14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Estrutura</a:t>
            </a:r>
            <a:r>
              <a:rPr lang="pt-BR" sz="1400" dirty="0">
                <a:solidFill>
                  <a:srgbClr val="111827"/>
                </a:solidFill>
                <a:latin typeface="Calibri"/>
              </a:rPr>
              <a:t>: nó e arquivo (parâmetros e nó)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Problema e objetivo do projeto</a:t>
            </a:r>
          </a:p>
          <a:p>
            <a:pPr>
              <a:spcAft>
                <a:spcPts val="500"/>
              </a:spcAft>
            </a:pPr>
            <a:r>
              <a:rPr lang="pt-BR" sz="1400" dirty="0">
                <a:solidFill>
                  <a:srgbClr val="111827"/>
                </a:solidFill>
                <a:latin typeface="Calibri"/>
              </a:rPr>
              <a:t>     Recordação:  Busca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, inserção e Remoção</a:t>
            </a:r>
            <a:endParaRPr sz="14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400" dirty="0">
                <a:solidFill>
                  <a:srgbClr val="111827"/>
                </a:solidFill>
                <a:latin typeface="Calibri"/>
              </a:rPr>
              <a:t>Demonstração </a:t>
            </a:r>
            <a:r>
              <a:rPr lang="pt-BR" sz="1400" b="0" dirty="0">
                <a:solidFill>
                  <a:srgbClr val="111827"/>
                </a:solidFill>
                <a:latin typeface="Calibri"/>
              </a:rPr>
              <a:t>ao </a:t>
            </a:r>
            <a:r>
              <a:rPr sz="1400" b="0" dirty="0">
                <a:solidFill>
                  <a:srgbClr val="111827"/>
                </a:solidFill>
                <a:latin typeface="Calibri"/>
              </a:rPr>
              <a:t>vivo</a:t>
            </a:r>
            <a:endParaRPr lang="pt-BR" sz="14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Parte 2 — a avaliação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Experimentos e métricas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Impacto da ordem m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Escala e reaproveitamento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Validação em 2 máquinas + 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0615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pt-BR" sz="2300" b="1" dirty="0">
                <a:solidFill>
                  <a:srgbClr val="FFFFFF"/>
                </a:solidFill>
                <a:latin typeface="Calibri"/>
              </a:rPr>
              <a:t>Contextualização:</a:t>
            </a:r>
            <a:r>
              <a:rPr sz="23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pt-BR" sz="2300" b="1" dirty="0">
                <a:solidFill>
                  <a:srgbClr val="FFFFFF"/>
                </a:solidFill>
                <a:latin typeface="Calibri"/>
              </a:rPr>
              <a:t>memória rápida </a:t>
            </a:r>
            <a:r>
              <a:rPr sz="2300" b="1" dirty="0">
                <a:solidFill>
                  <a:srgbClr val="FFFFFF"/>
                </a:solidFill>
                <a:latin typeface="Calibri"/>
              </a:rPr>
              <a:t>× disco 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" y="2033955"/>
            <a:ext cx="12017730" cy="36317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pt-BR" sz="2000" dirty="0">
                <a:solidFill>
                  <a:srgbClr val="111827"/>
                </a:solidFill>
              </a:rPr>
              <a:t>Por que disco e por que Árvore B ?</a:t>
            </a:r>
          </a:p>
          <a:p>
            <a:pPr>
              <a:spcAft>
                <a:spcPts val="1200"/>
              </a:spcAft>
            </a:pPr>
            <a:endParaRPr lang="pt-BR" sz="2000" dirty="0">
              <a:solidFill>
                <a:srgbClr val="111827"/>
              </a:solidFill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Restrição: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RAM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é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rápida, volátil e com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baixa capacidade de armazenamento.</a:t>
            </a:r>
            <a:endParaRPr lang="pt-BR"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Solução: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Disco possui alta capacidade de armazenamento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,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permanente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,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mas na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ordem de 10^6 mais lento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.</a:t>
            </a:r>
            <a:endParaRPr lang="pt-BR" sz="2000" b="1" dirty="0">
              <a:solidFill>
                <a:srgbClr val="111827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Font typeface="Symbol" panose="05050102010706020507" pitchFamily="18" charset="2"/>
              <a:buChar char="Þ"/>
            </a:pPr>
            <a:r>
              <a:rPr lang="pt-BR" sz="2000" dirty="0">
                <a:solidFill>
                  <a:srgbClr val="111827"/>
                </a:solidFill>
                <a:latin typeface="Calibri"/>
              </a:rPr>
              <a:t>Em um BD real o verdadeiro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gargalo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é o número de acessos (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I/O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 ao disco.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Objetivo: Escolher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ED que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minimizem o número de acessos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ao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disco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Font typeface="Symbol" panose="05050102010706020507" pitchFamily="18" charset="2"/>
              <a:buChar char="Þ"/>
            </a:pPr>
            <a:r>
              <a:rPr lang="pt-BR" sz="2000" dirty="0">
                <a:solidFill>
                  <a:srgbClr val="111827"/>
                </a:solidFill>
                <a:latin typeface="Calibri"/>
              </a:rPr>
              <a:t> Árvore B: menos profunda que outras estruturas (menos acessos ao disco).</a:t>
            </a:r>
          </a:p>
          <a:p>
            <a:pPr>
              <a:spcAft>
                <a:spcPts val="1200"/>
              </a:spcAft>
            </a:pPr>
            <a:endParaRPr sz="20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2/38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1525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2400" dirty="0"/>
              <a:t>   Árvore B: Parâmetros e Estrutura formal do nó</a:t>
            </a:r>
            <a:endParaRPr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552448" y="4420701"/>
            <a:ext cx="8545543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Registro de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tamanho fixo (todos os nós têm o mesmo tamanho)→  </a:t>
            </a:r>
            <a:r>
              <a:rPr lang="pt-BR" sz="1600" b="0" dirty="0">
                <a:solidFill>
                  <a:srgbClr val="111827"/>
                </a:solidFill>
                <a:latin typeface="Calibri"/>
              </a:rPr>
              <a:t>acesso direto ao nó via offset.</a:t>
            </a:r>
            <a:endParaRPr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Campos: n ·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ponteiros 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A[ ] ·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chaves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K[ ]</a:t>
            </a:r>
            <a:endParaRPr lang="pt-BR"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pt-BR" sz="1200" dirty="0">
                <a:solidFill>
                  <a:srgbClr val="FF0000"/>
                </a:solidFill>
                <a:latin typeface="Calibri"/>
              </a:rPr>
              <a:t>     Exemplo, leia A[0] = 17:  “filho esquerdo de um nó está no RRN 17”</a:t>
            </a:r>
            <a:endParaRPr sz="12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Ordem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m </a:t>
            </a:r>
            <a:r>
              <a:rPr lang="pt-BR" sz="1600" b="0" dirty="0">
                <a:solidFill>
                  <a:srgbClr val="111827"/>
                </a:solidFill>
                <a:latin typeface="Calibri"/>
              </a:rPr>
              <a:t>→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até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m-1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chaves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e m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filhos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  <p:pic>
        <p:nvPicPr>
          <p:cNvPr id="5" name="Picture 4" descr="chart_nod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0941"/>
            <a:ext cx="7742928" cy="30575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secundária— AED-PG-2026         3/38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pt-BR" sz="2300" b="1" dirty="0">
                <a:solidFill>
                  <a:srgbClr val="FFFFFF"/>
                </a:solidFill>
                <a:latin typeface="Calibri"/>
              </a:rPr>
              <a:t>Árvores geradas pelo Graphviz</a:t>
            </a:r>
            <a:endParaRPr sz="23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990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111827"/>
                </a:solidFill>
                <a:latin typeface="Calibri"/>
              </a:rPr>
              <a:t>•  Cada 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caixa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= 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nó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 no disco (RRN)</a:t>
            </a:r>
            <a:endParaRPr lang="pt-BR" sz="15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500" dirty="0">
                <a:solidFill>
                  <a:srgbClr val="111827"/>
                </a:solidFill>
              </a:rPr>
              <a:t> m=3 e 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m=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4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 ( 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mais chaves por nó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→ </a:t>
            </a:r>
            <a:r>
              <a:rPr lang="pt-BR" sz="1500" b="1" dirty="0">
                <a:solidFill>
                  <a:srgbClr val="111827"/>
                </a:solidFill>
                <a:latin typeface="Calibri"/>
              </a:rPr>
              <a:t>tende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 a ser menos profunda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pt-BR" sz="1500" b="0" dirty="0">
                <a:solidFill>
                  <a:srgbClr val="111827"/>
                </a:solidFill>
                <a:latin typeface="Calibri"/>
              </a:rPr>
              <a:t>  Obs</a:t>
            </a:r>
            <a:r>
              <a:rPr lang="pt-BR" sz="1500" b="0" i="1" dirty="0">
                <a:solidFill>
                  <a:srgbClr val="111827"/>
                </a:solidFill>
                <a:latin typeface="Calibri"/>
              </a:rPr>
              <a:t>: h </a:t>
            </a:r>
            <a:r>
              <a:rPr lang="pt-BR" sz="1500" i="1" dirty="0">
                <a:solidFill>
                  <a:srgbClr val="111827"/>
                </a:solidFill>
                <a:latin typeface="Calibri"/>
              </a:rPr>
              <a:t>≈ logₘ(n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) </a:t>
            </a:r>
            <a:endParaRPr lang="pt-BR" sz="1500" b="0" dirty="0">
              <a:solidFill>
                <a:srgbClr val="111827"/>
              </a:solidFill>
              <a:latin typeface="Calibri"/>
            </a:endParaRPr>
          </a:p>
        </p:txBody>
      </p:sp>
      <p:pic>
        <p:nvPicPr>
          <p:cNvPr id="5" name="Picture 4" descr="graphs_m3_m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501" y="2939796"/>
            <a:ext cx="8020318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4/38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 dirty="0">
                <a:solidFill>
                  <a:srgbClr val="FFFFFF"/>
                </a:solidFill>
                <a:latin typeface="Calibri"/>
              </a:rPr>
              <a:t>Layout do </a:t>
            </a:r>
            <a:r>
              <a:rPr lang="pt-BR" sz="2300" b="1" dirty="0">
                <a:solidFill>
                  <a:srgbClr val="FFFFFF"/>
                </a:solidFill>
                <a:latin typeface="Calibri"/>
              </a:rPr>
              <a:t>arquivo</a:t>
            </a:r>
            <a:r>
              <a:rPr sz="2300" b="1" dirty="0">
                <a:solidFill>
                  <a:srgbClr val="FFFFFF"/>
                </a:solidFill>
                <a:latin typeface="Calibri"/>
              </a:rPr>
              <a:t> no disco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" y="629678"/>
            <a:ext cx="6000750" cy="48731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endParaRPr lang="pt-BR" sz="16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pt-BR" sz="1600" dirty="0">
                <a:solidFill>
                  <a:srgbClr val="111827"/>
                </a:solidFill>
                <a:latin typeface="Calibri"/>
              </a:rPr>
              <a:t>Cabeçalho (RRN 0):</a:t>
            </a:r>
            <a:endParaRPr lang="pt-BR"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pt-BR" sz="1600" b="1" dirty="0">
                <a:solidFill>
                  <a:srgbClr val="111827"/>
                </a:solidFill>
                <a:latin typeface="Calibri"/>
              </a:rPr>
              <a:t>Guarda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: a posição da raiz, total de nós, ponteiro da free list 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RRN 0 = header (root, total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, free_head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)</a:t>
            </a:r>
            <a:endParaRPr lang="pt-BR"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pt-BR" sz="1600" dirty="0">
                <a:solidFill>
                  <a:srgbClr val="FF0000"/>
                </a:solidFill>
              </a:rPr>
              <a:t>Permite abrir o arquivo com um único acesso</a:t>
            </a:r>
          </a:p>
          <a:p>
            <a:pPr>
              <a:spcAft>
                <a:spcPts val="800"/>
              </a:spcAft>
            </a:pPr>
            <a:endParaRPr lang="pt-BR" sz="1600" dirty="0">
              <a:solidFill>
                <a:srgbClr val="FF0000"/>
              </a:solidFill>
            </a:endParaRPr>
          </a:p>
          <a:p>
            <a:pPr>
              <a:spcAft>
                <a:spcPts val="800"/>
              </a:spcAft>
            </a:pPr>
            <a:r>
              <a:rPr lang="pt-BR" sz="1600" dirty="0">
                <a:solidFill>
                  <a:srgbClr val="111827"/>
                </a:solidFill>
                <a:latin typeface="Calibri"/>
              </a:rPr>
              <a:t>Acesso direto por RRN</a:t>
            </a:r>
          </a:p>
          <a:p>
            <a:pPr>
              <a:spcAft>
                <a:spcPts val="800"/>
              </a:spcAft>
            </a:pPr>
            <a:r>
              <a:rPr lang="pt-BR" sz="1600" b="1" dirty="0">
                <a:solidFill>
                  <a:srgbClr val="111827"/>
                </a:solidFill>
                <a:latin typeface="Calibri"/>
              </a:rPr>
              <a:t>Cada nó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:  ocupa uma página fixa</a:t>
            </a:r>
            <a:endParaRPr sz="16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offset = RRN × PAGE_SIZE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 (posição exata na memória).</a:t>
            </a:r>
            <a:endParaRPr lang="pt-BR"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pt-BR" sz="16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pt-BR" sz="1600" b="1" dirty="0">
                <a:solidFill>
                  <a:srgbClr val="111827"/>
                </a:solidFill>
                <a:latin typeface="Calibri"/>
              </a:rPr>
              <a:t>Reaproveitamento de nós (free List)</a:t>
            </a:r>
          </a:p>
          <a:p>
            <a:pPr>
              <a:spcAft>
                <a:spcPts val="800"/>
              </a:spcAft>
            </a:pPr>
            <a:r>
              <a:rPr lang="pt-BR" sz="1600" dirty="0">
                <a:solidFill>
                  <a:srgbClr val="111827"/>
                </a:solidFill>
              </a:rPr>
              <a:t>Nós removidos entram na free list (reuso)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600" b="1" dirty="0">
                <a:solidFill>
                  <a:srgbClr val="111827"/>
                </a:solidFill>
                <a:latin typeface="Calibri"/>
              </a:rPr>
              <a:t>free_head </a:t>
            </a:r>
            <a:r>
              <a:rPr lang="pt-BR" sz="1600" b="0" dirty="0">
                <a:solidFill>
                  <a:srgbClr val="111827"/>
                </a:solidFill>
                <a:latin typeface="Calibri"/>
              </a:rPr>
              <a:t>aponta para o primeiro nó livre</a:t>
            </a:r>
          </a:p>
          <a:p>
            <a:pPr>
              <a:spcAft>
                <a:spcPts val="800"/>
              </a:spcAft>
            </a:pPr>
            <a:r>
              <a:rPr lang="pt-BR" sz="1600" dirty="0">
                <a:solidFill>
                  <a:srgbClr val="FF0000"/>
                </a:solidFill>
                <a:latin typeface="Calibri"/>
              </a:rPr>
              <a:t>Evita fragmentação e crescimento desnecessário do arquivo</a:t>
            </a:r>
            <a:endParaRPr lang="pt-BR" sz="1600" b="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5" name="Picture 4" descr="chart_file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157" y="1162536"/>
            <a:ext cx="6653537" cy="30620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em memória secundária— AED-PG-2026          5/38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11202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pt-BR" sz="2300" b="1" dirty="0">
                <a:solidFill>
                  <a:srgbClr val="FFFFFF"/>
                </a:solidFill>
                <a:latin typeface="Calibri"/>
              </a:rPr>
              <a:t>Problema e objetivos</a:t>
            </a:r>
            <a:endParaRPr sz="23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95355" y="1276611"/>
            <a:ext cx="10850305" cy="34778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Enunciado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: Implementação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de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uma classe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Árvore B de ordem </a:t>
            </a:r>
            <a:r>
              <a:rPr lang="pt-BR" sz="2000" i="1" dirty="0">
                <a:solidFill>
                  <a:srgbClr val="111827"/>
                </a:solidFill>
                <a:latin typeface="Calibri"/>
              </a:rPr>
              <a:t>m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 que resida em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MEMÓRIA SECUNDÁRIA (um arquivo em disco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)</a:t>
            </a:r>
            <a:endParaRPr lang="pt-BR" sz="2000" b="0" dirty="0">
              <a:solidFill>
                <a:srgbClr val="111827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Font typeface="Wingdings" panose="05000000000000000000" pitchFamily="2" charset="2"/>
              <a:buChar char="Ø"/>
            </a:pP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Restrição Central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Nunca c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arregada inteira na RAM –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cada operação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acessa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um nó por vez.</a:t>
            </a:r>
            <a:endParaRPr lang="pt-BR" sz="20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Operações básicas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Busca, inserção e Remoção </a:t>
            </a: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</a:rPr>
              <a:t>Objetivo</a:t>
            </a:r>
            <a:r>
              <a:rPr lang="pt-BR" sz="2000" dirty="0">
                <a:solidFill>
                  <a:srgbClr val="111827"/>
                </a:solidFill>
              </a:rPr>
              <a:t>: avaliação do desempenho para variações da ordem de m, n.  </a:t>
            </a: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Extra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: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Implementação de uma </a:t>
            </a:r>
            <a:r>
              <a:rPr lang="pt-BR" sz="2000" b="1" i="1" dirty="0">
                <a:solidFill>
                  <a:srgbClr val="111827"/>
                </a:solidFill>
                <a:latin typeface="Calibri"/>
              </a:rPr>
              <a:t>Free List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(reaproveitamento de nós deletados do disco). </a:t>
            </a: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Comparação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duas máquinas: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Notebook pessoal X Servidor Titan (USP)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secundária— AED-PG-2026          6/38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 dirty="0">
                <a:solidFill>
                  <a:srgbClr val="FFFFFF"/>
                </a:solidFill>
                <a:latin typeface="Calibri"/>
              </a:rPr>
              <a:t>O </a:t>
            </a:r>
            <a:r>
              <a:rPr lang="pt-BR" sz="2300" b="1" dirty="0">
                <a:solidFill>
                  <a:srgbClr val="FFFFFF"/>
                </a:solidFill>
                <a:latin typeface="Calibri"/>
              </a:rPr>
              <a:t>índice e a métrica mais fiel</a:t>
            </a:r>
            <a:endParaRPr sz="23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2656880"/>
            <a:ext cx="10972800" cy="20928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A estrutura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“L</a:t>
            </a:r>
            <a:r>
              <a:rPr lang="pt-BR" sz="2000" dirty="0"/>
              <a:t>ayout do arquivo em disco”(header + RRNs + páginas fixas), faz a Árvore B funcionar como um índice e evita a leitura do arquivo inteiro, ie, segue apenas o caminho raiz → folha.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/>
              <a:t>O header (cabeçalho) aponta para a raiz: busca começa em um único acesso.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Métrica mais fiel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= nº de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acessos ao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disco (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não o relógio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)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.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O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relógio engana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: a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escrita vai ao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cache do SO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.</a:t>
            </a:r>
            <a:endParaRPr sz="20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7/38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62193"/>
            <a:ext cx="10944225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lang="pt-BR" sz="1500" dirty="0">
                <a:solidFill>
                  <a:srgbClr val="111827"/>
                </a:solidFill>
                <a:latin typeface="Calibri"/>
              </a:rPr>
              <a:t>Resumo das principais decisões: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Ordem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 m 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definida em compilação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: tamanho do nó é fixo, PAGE_SIZE constante→ cálculo de offsets é simplificado </a:t>
            </a:r>
            <a:endParaRPr sz="15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111827"/>
                </a:solidFill>
                <a:latin typeface="Calibri"/>
              </a:rPr>
              <a:t>•  Raiz no </a:t>
            </a:r>
            <a:r>
              <a:rPr lang="pt-BR" sz="1500" b="0" dirty="0">
                <a:solidFill>
                  <a:srgbClr val="111827"/>
                </a:solidFill>
                <a:latin typeface="Calibri"/>
              </a:rPr>
              <a:t>header (cabeçalho)</a:t>
            </a:r>
            <a:r>
              <a:rPr sz="15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→ abertura do arquivo em O(1) (um único acesso inicial)</a:t>
            </a:r>
            <a:endParaRPr sz="15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500" dirty="0">
                <a:solidFill>
                  <a:srgbClr val="111827"/>
                </a:solidFill>
                <a:latin typeface="Calibri"/>
              </a:rPr>
              <a:t>cada nó corresponde a uma página → cada leitura equivale a uma página→ métrica fica objetiva </a:t>
            </a:r>
            <a:endParaRPr sz="1500" dirty="0">
              <a:solidFill>
                <a:srgbClr val="111827"/>
              </a:solidFill>
              <a:latin typeface="Calibri"/>
            </a:endParaRP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19400"/>
            <a:ext cx="11487151" cy="34284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(m=3, 40 chaves) exportada pelo próprio código — o número é o RRN no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secundária— AED-PG-2026          8/38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31"/>
            <a:ext cx="11247120" cy="8771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endParaRPr lang="pt-BR" sz="2300" b="1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pt-BR" sz="2300" b="1" dirty="0">
                <a:solidFill>
                  <a:srgbClr val="FFFFFF"/>
                </a:solidFill>
                <a:latin typeface="Calibri"/>
              </a:rPr>
              <a:t>A Classe DiskManager</a:t>
            </a:r>
            <a:r>
              <a:rPr sz="2300" b="1" dirty="0">
                <a:solidFill>
                  <a:srgbClr val="FFFFFF"/>
                </a:solidFill>
                <a:latin typeface="Calibri"/>
              </a:rPr>
              <a:t> — um </a:t>
            </a:r>
            <a:r>
              <a:rPr lang="pt-BR" sz="2300" b="1" dirty="0">
                <a:solidFill>
                  <a:srgbClr val="FFFFFF"/>
                </a:solidFill>
                <a:latin typeface="Calibri"/>
              </a:rPr>
              <a:t>nó por I/O</a:t>
            </a:r>
            <a:endParaRPr sz="23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1" y="1250601"/>
            <a:ext cx="10109436" cy="45550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Toda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I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/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O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passa pelo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DiskManager</a:t>
            </a:r>
            <a:endParaRPr lang="pt-BR" sz="20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pt-BR" sz="2000" dirty="0">
                <a:solidFill>
                  <a:srgbClr val="111827"/>
                </a:solidFill>
                <a:latin typeface="Calibri"/>
              </a:rPr>
              <a:t>Sempre que a análise de um nó é necessária  é feita uma leitura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(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readNode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), se houver alteração nele, a  escrita é realizada (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writeNode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).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readNote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/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writeNode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= 1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registro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de PAGE_SIZE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Nessa classe reside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o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contador de acessos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(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métrica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central)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.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sz="2000" b="1" dirty="0">
                <a:solidFill>
                  <a:srgbClr val="111827"/>
                </a:solidFill>
                <a:latin typeface="Calibri"/>
              </a:rPr>
              <a:t>A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árvore nunca é totalmente carregada na RAM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pt-BR" sz="20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pt-BR" sz="200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pt-BR" sz="2000" b="1" dirty="0">
                <a:solidFill>
                  <a:srgbClr val="111827"/>
                </a:solidFill>
                <a:latin typeface="Calibri"/>
              </a:rPr>
              <a:t>Resumo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: Árvore funciona como um índice em disco. O cabeçalho aponta para a raiz, os nós são endereçados pelo RRN; cada página corresponde a um I/O e toda a persistência é centralizada na classe DiskManager.</a:t>
            </a:r>
            <a:endParaRPr sz="200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secundária— AED-PG-2026          9/38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Métodos —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Busca m-vias (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mSearch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Inserção: Abordagem bottom-up com split (i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nsertB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Remoção: sucessor, redistribuição e fusão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(deleteB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)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Monitoramento: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printTree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·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height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· exportDot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10/38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Busca m-way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957" y="1588083"/>
            <a:ext cx="7453424" cy="10361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Chaves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dividem o universo em faixas</a:t>
            </a:r>
            <a:endParaRPr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</a:t>
            </a:r>
            <a:r>
              <a:rPr lang="pt-BR" sz="1600" b="1" dirty="0">
                <a:solidFill>
                  <a:srgbClr val="111827"/>
                </a:solidFill>
                <a:latin typeface="Calibri"/>
              </a:rPr>
              <a:t>Nível lógico</a:t>
            </a:r>
            <a:r>
              <a:rPr lang="pt-BR" sz="1600" b="0" dirty="0">
                <a:solidFill>
                  <a:srgbClr val="111827"/>
                </a:solidFill>
                <a:latin typeface="Calibri"/>
              </a:rPr>
              <a:t>: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Desce pelo ponteiro da faixa certa </a:t>
            </a:r>
            <a:endParaRPr sz="16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Custo</a:t>
            </a:r>
            <a:r>
              <a:rPr sz="1600" b="0" dirty="0">
                <a:solidFill>
                  <a:srgbClr val="111827"/>
                </a:solidFill>
                <a:latin typeface="Calibri"/>
              </a:rPr>
              <a:t> ≈ </a:t>
            </a:r>
            <a:r>
              <a:rPr lang="pt-BR" sz="1600" dirty="0">
                <a:solidFill>
                  <a:srgbClr val="111827"/>
                </a:solidFill>
                <a:latin typeface="Calibri"/>
              </a:rPr>
              <a:t>altura da árvore</a:t>
            </a:r>
            <a:endParaRPr sz="1600" b="0" dirty="0">
              <a:solidFill>
                <a:srgbClr val="111827"/>
              </a:solidFill>
              <a:latin typeface="Calibri"/>
            </a:endParaRP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139" y="1329020"/>
            <a:ext cx="7928916" cy="4477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5989320"/>
            <a:ext cx="557784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A </a:t>
            </a:r>
            <a:r>
              <a:rPr lang="pt-BR" sz="900" dirty="0">
                <a:solidFill>
                  <a:srgbClr val="6B7280"/>
                </a:solidFill>
                <a:latin typeface="Calibri"/>
              </a:rPr>
              <a:t>busca segue um caminho da raiz à folha</a:t>
            </a:r>
            <a:endParaRPr sz="900" b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11/38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Inserção 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 Bottom-up: acha a folha, insere em ordem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 Estourou (&gt; m-1 chaves)? → split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 Regra de split é acionada de acordo com o m (ex: mediana sobe ao pai); pode propagar e criar raiz.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 É o que mantém a árvore balanceada</a:t>
            </a:r>
            <a:endParaRPr sz="2000" b="0" dirty="0">
              <a:solidFill>
                <a:srgbClr val="11182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12/38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Remoção — sucessor, redistribuição e fusão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  Nó interno: troca pelo sucessor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em 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order.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Folha pode ficar em underflow.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Redistribuição: empresta de um irmão.</a:t>
            </a:r>
          </a:p>
          <a:p>
            <a:pPr>
              <a:spcAft>
                <a:spcPts val="1200"/>
              </a:spcAft>
            </a:pPr>
            <a:r>
              <a:rPr lang="pt-BR" sz="2000" b="0" dirty="0">
                <a:solidFill>
                  <a:srgbClr val="111827"/>
                </a:solidFill>
                <a:latin typeface="Calibri"/>
              </a:rPr>
              <a:t>•  Fusão: funde com irmão + chave do pai.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13/38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15774"/>
            <a:ext cx="1124712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pt-BR" sz="2300" b="1" dirty="0">
                <a:solidFill>
                  <a:srgbClr val="FFFFFF"/>
                </a:solidFill>
                <a:latin typeface="Calibri"/>
              </a:rPr>
              <a:t>Reaproveitamento – Free List</a:t>
            </a:r>
            <a:endParaRPr sz="23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2810768"/>
            <a:ext cx="10972800" cy="1785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Remoção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libera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nó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→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vira nó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LIVRE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freeNode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 encadeia na lista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(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free_head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no header)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allocNode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 reusa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antes de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crescer o arquivo</a:t>
            </a:r>
            <a:endParaRPr sz="2000" b="0" dirty="0">
              <a:solidFill>
                <a:srgbClr val="111827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rgbClr val="111827"/>
                </a:solidFill>
                <a:latin typeface="Calibri"/>
              </a:rPr>
              <a:t>•  </a:t>
            </a:r>
            <a:r>
              <a:rPr lang="pt-BR" sz="2000" dirty="0">
                <a:solidFill>
                  <a:srgbClr val="111827"/>
                </a:solidFill>
                <a:latin typeface="Calibri"/>
              </a:rPr>
              <a:t>Ligável 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(</a:t>
            </a:r>
            <a:r>
              <a:rPr lang="pt-BR" sz="2000" b="1" dirty="0">
                <a:solidFill>
                  <a:srgbClr val="111827"/>
                </a:solidFill>
                <a:latin typeface="Calibri"/>
              </a:rPr>
              <a:t>setReuse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) —</a:t>
            </a:r>
            <a:r>
              <a:rPr lang="pt-BR" sz="2000" b="0" dirty="0">
                <a:solidFill>
                  <a:srgbClr val="111827"/>
                </a:solidFill>
                <a:latin typeface="Calibri"/>
              </a:rPr>
              <a:t>medido</a:t>
            </a:r>
            <a:r>
              <a:rPr sz="2000" b="0" dirty="0">
                <a:solidFill>
                  <a:srgbClr val="111827"/>
                </a:solidFill>
                <a:latin typeface="Calibri"/>
              </a:rPr>
              <a:t> no churn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14/38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6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Resumo — o que o código faz</a:t>
            </a:r>
            <a:endParaRPr/>
          </a:p>
        </p:txBody>
      </p:sp>
      <p:sp>
        <p:nvSpPr>
          <p:cNvPr id="213" name="Google Shape;213;p16"/>
          <p:cNvSpPr txBox="1"/>
          <p:nvPr/>
        </p:nvSpPr>
        <p:spPr>
          <a:xfrm>
            <a:off x="411480" y="1051560"/>
            <a:ext cx="5623560" cy="144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Núcleo — Árvore B em disco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Ordem m parametrizável (M em compilação)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100% em disco: 1 nó por I/O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Busca · inserção (split) · remoção (merge)</a:t>
            </a:r>
            <a:endParaRPr b="0" sz="1400">
              <a:solidFill>
                <a:srgbClr val="11182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Persistência por RRN + header</a:t>
            </a:r>
            <a:endParaRPr/>
          </a:p>
        </p:txBody>
      </p:sp>
      <p:sp>
        <p:nvSpPr>
          <p:cNvPr id="214" name="Google Shape;214;p16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Extras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Contador de acessos ao disco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Free list ligável (setReuse)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printTree · height · exportDot (Graphviz)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Benchmark CSV + automação (run_all, make_tables)</a:t>
            </a:r>
            <a:endParaRPr/>
          </a:p>
        </p:txBody>
      </p:sp>
      <p:sp>
        <p:nvSpPr>
          <p:cNvPr id="215" name="Google Shape;215;p16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secundária— AED-PG-2026          15/38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4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Ferramentas utilizadas</a:t>
            </a:r>
            <a:endParaRPr/>
          </a:p>
        </p:txBody>
      </p:sp>
      <p:sp>
        <p:nvSpPr>
          <p:cNvPr id="222" name="Google Shape;222;p34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Implementação &amp; experimentos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C++17 (g++ -O2) · GNU Make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std::fstream (binário, registros fixos)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Graphviz (grafos) · Python + matplotlib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python-pptx / reportlab (slides)</a:t>
            </a:r>
            <a:endParaRPr/>
          </a:p>
        </p:txBody>
      </p:sp>
      <p:sp>
        <p:nvSpPr>
          <p:cNvPr id="223" name="Google Shape;223;p3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D4ED8"/>
                </a:solidFill>
                <a:latin typeface="Calibri"/>
              </a:rPr>
              <a:t>Processo &amp; reprodutibilidade</a:t>
            </a:r>
            <a:endParaRPr/>
          </a:p>
          <a:p>
            <a:r>
              <a:rPr sz="1400" b="0">
                <a:solidFill>
                  <a:srgbClr val="111827"/>
                </a:solidFill>
                <a:latin typeface="Calibri"/>
              </a:rPr>
              <a:t>•  Versionamento com Git</a:t>
            </a:r>
          </a:p>
          <a:p>
            <a:r>
              <a:rPr sz="1400" b="0">
                <a:solidFill>
                  <a:srgbClr val="111827"/>
                </a:solidFill>
                <a:latin typeface="Calibri"/>
              </a:rPr>
              <a:t>•  Experimentos reprodutíveis (CSV)</a:t>
            </a:r>
          </a:p>
          <a:p>
            <a:r>
              <a:rPr sz="1400" b="0">
                <a:solidFill>
                  <a:srgbClr val="111827"/>
                </a:solidFill>
                <a:latin typeface="Calibri"/>
              </a:rPr>
              <a:t>•  Build parametrizável: make M=&lt;ordem&gt;</a:t>
            </a:r>
          </a:p>
          <a:p>
            <a:r>
              <a:rPr sz="1400" b="0">
                <a:solidFill>
                  <a:srgbClr val="111827"/>
                </a:solidFill>
                <a:latin typeface="Calibri"/>
              </a:rPr>
              <a:t>•  Validação cruzada em 2 máquinas</a:t>
            </a:r>
          </a:p>
        </p:txBody>
      </p:sp>
      <p:sp>
        <p:nvSpPr>
          <p:cNvPr id="224" name="Google Shape;224;p3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16/38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Demonstração — o programa rodando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457200" y="1051560"/>
            <a:ext cx="11247120" cy="93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Compilação → menu → CRUD + métricas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m=3 e m=5: a árvore ficar pode ficar mais rasa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pt-BR" sz="15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Captura real da execução</a:t>
            </a:r>
            <a:endParaRPr/>
          </a:p>
        </p:txBody>
      </p:sp>
      <p:pic>
        <p:nvPicPr>
          <p:cNvPr descr="demo_btree.gif" id="232" name="Google Shape;23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5145" y="2743200"/>
            <a:ext cx="5331229" cy="338328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7"/>
          <p:cNvSpPr txBox="1"/>
          <p:nvPr/>
        </p:nvSpPr>
        <p:spPr>
          <a:xfrm>
            <a:off x="2286000" y="6156480"/>
            <a:ext cx="7589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make M=3/M=5 → menu interativo → grafo exportado pelo programa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457200" y="6455664"/>
            <a:ext cx="1124712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17/38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Os experimentos — a matriz de testes</a:t>
            </a:r>
            <a:endParaRPr/>
          </a:p>
        </p:txBody>
      </p:sp>
      <p:sp>
        <p:nvSpPr>
          <p:cNvPr id="241" name="Google Shape;241;p18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Exp.1 — impacto da ordem m (N=10⁵)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Exp.2 — escala N (10³–10⁶)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Exp.3 — ocupação com/sem reuso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Exp.4 — CPU vs I/O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Validação em 2 máquinas</a:t>
            </a:r>
            <a:endParaRPr/>
          </a:p>
        </p:txBody>
      </p:sp>
      <p:pic>
        <p:nvPicPr>
          <p:cNvPr descr="chart_io_vs_N.png" id="242" name="Google Shape;24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8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18/38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Metodologia e ambiente</a:t>
            </a:r>
            <a:endParaRPr/>
          </a:p>
        </p:txBody>
      </p:sp>
      <p:sp>
        <p:nvSpPr>
          <p:cNvPr id="250" name="Google Shape;250;p19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Driver não interativo → CSV de métricas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Cada configuração reconstruída do zero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Modos aleatório e sequencial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getrusage: CPU usuário / sistema / espera de I/O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2 máquinas: Notebook × Titan (USP)</a:t>
            </a:r>
            <a:endParaRPr/>
          </a:p>
        </p:txBody>
      </p:sp>
      <p:sp>
        <p:nvSpPr>
          <p:cNvPr id="251" name="Google Shape;251;p19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19/38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Métricas utilizadas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ao disco — métrica central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Altura (~ log_m 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Ocupação: nós, livres e bytes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Tempo: wall · CPU (user/sys) · espera de I/O</a:t>
            </a:r>
            <a:endParaRPr/>
          </a:p>
        </p:txBody>
      </p:sp>
      <p:pic>
        <p:nvPicPr>
          <p:cNvPr descr="chart_height_vs_m.png" id="259" name="Google Shape;25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0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20/38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Impacto da ordem m — I/O por busca (N=10⁵)</a:t>
            </a:r>
            <a:endParaRPr/>
          </a:p>
        </p:txBody>
      </p:sp>
      <p:graphicFrame>
        <p:nvGraphicFramePr>
          <p:cNvPr id="267" name="Google Shape;267;p21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{CC16A1BC-36C8-4648-86B1-20EBE51095D4}</a:tableStyleId>
              </a:tblPr>
              <a:tblGrid>
                <a:gridCol w="899150"/>
                <a:gridCol w="899150"/>
                <a:gridCol w="899150"/>
                <a:gridCol w="899150"/>
                <a:gridCol w="899150"/>
                <a:gridCol w="899150"/>
              </a:tblGrid>
              <a:tr h="3517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altura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busca I/O/op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inser. I/O/op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rem. I/O/op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arquivo (KB)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13.25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16.90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19.67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2,040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10.48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13.51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16.76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1,829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8.63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11.50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13.52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1,589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6.79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9.05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10.91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1,411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7.00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8.16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1,251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3.95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5.95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6.77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5.04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1,146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5.51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128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5.41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1,121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256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4.57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5.00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1,088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512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4.41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5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3.99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4.34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1,016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io_vs_m.png" id="268" name="Google Shape;26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I/O por busca cai de 13,25 (m=3, altura 14) para 2,00 (m≥512, altura 2). Ganho satura por volta de m≈64-128.</a:t>
            </a:r>
            <a:endParaRPr/>
          </a:p>
        </p:txBody>
      </p:sp>
      <p:sp>
        <p:nvSpPr>
          <p:cNvPr id="270" name="Google Shape;270;p21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21/38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Impacto da ordem m — altura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Altura ≈ acessos por busca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m=3 → 14 níveis (fundo demais)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 cresce → altura despenca em degraus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 grande → altura 2</a:t>
            </a:r>
            <a:endParaRPr/>
          </a:p>
        </p:txBody>
      </p:sp>
      <p:pic>
        <p:nvPicPr>
          <p:cNvPr descr="chart_height_vs_m.png" id="278" name="Google Shape;2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2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22/38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3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Resultados por operação</a:t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Busca: a mais barata (raiz → folha)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Inserção: split reescreve nós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Remoção: a mais cara (redistribui / funde)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Todas caem com m e saturam juntas</a:t>
            </a:r>
            <a:endParaRPr/>
          </a:p>
        </p:txBody>
      </p:sp>
      <p:pic>
        <p:nvPicPr>
          <p:cNvPr descr="chart_phase_io.png" id="287" name="Google Shape;28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3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23/38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Escala do conjunto (mil → 1 milhão)</a:t>
            </a:r>
            <a:endParaRPr/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 de mil a um milhão de chaves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por busca quase não mudam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Custo logarítmico na base 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Escalável: cresce o dado, não o custo</a:t>
            </a:r>
            <a:endParaRPr/>
          </a:p>
        </p:txBody>
      </p:sp>
      <p:pic>
        <p:nvPicPr>
          <p:cNvPr descr="chart_io_vs_N.png" id="296" name="Google Shape;29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24/38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Comparação de desempenho — Árvore B × Array ordenado</a:t>
            </a:r>
          </a:p>
        </p:txBody>
      </p:sp>
      <p:pic>
        <p:nvPicPr>
          <p:cNvPr id="4" name="Picture 3" descr="cmp_btree_ar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320234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6757413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56231"/>
                <a:gridCol w="1856231"/>
                <a:gridCol w="1856231"/>
              </a:tblGrid>
              <a:tr h="42291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45720" marR="27432" marT="18288" marB="18288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Inserção</a:t>
                      </a:r>
                    </a:p>
                  </a:txBody>
                  <a:tcPr marL="45720" marR="27432" marT="18288" marB="18288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Busca</a:t>
                      </a:r>
                    </a:p>
                  </a:txBody>
                  <a:tcPr marL="45720" marR="27432" marT="18288" marB="18288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Remoção</a:t>
                      </a:r>
                    </a:p>
                  </a:txBody>
                  <a:tcPr marL="45720" marR="27432" marT="18288" marB="18288" anchor="ctr">
                    <a:solidFill>
                      <a:srgbClr val="1D4ED8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5,7 / 58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3,7 / 5,7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7,7 / 54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45720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7,5 / 496</a:t>
                      </a:r>
                    </a:p>
                  </a:txBody>
                  <a:tcPr marL="45720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4,6 / 8,9</a:t>
                      </a:r>
                    </a:p>
                  </a:txBody>
                  <a:tcPr marL="45720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9,5 / 525</a:t>
                      </a:r>
                    </a:p>
                  </a:txBody>
                  <a:tcPr marL="45720" marR="27432" marT="18288" marB="18288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  <a:latin typeface="Calibri"/>
                        </a:rPr>
                        <a:t>10.000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9,4 / 5037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6,6 / 12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  <a:latin typeface="Calibri"/>
                        </a:rPr>
                        <a:t>11,3 / 4970</a:t>
                      </a:r>
                    </a:p>
                  </a:txBody>
                  <a:tcPr marL="45720" marR="27432" marT="18288" marB="18288" anchor="ctr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6364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Acessos médios/op  —  Árvore B / Array ordenado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4526280"/>
            <a:ext cx="4114800" cy="17830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Busca: quase empata — ambas O(log n).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Inserção e remoção: array desloca ~N/2 registros (O(n)).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DC2626"/>
                </a:solidFill>
                <a:latin typeface="Calibri"/>
              </a:rPr>
              <a:t>→ até 538× (inserção) e 440× (remoção) mais I/O — N=10.000.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25/38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5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Reaproveitamento de nós (churn)</a:t>
            </a:r>
            <a:endParaRPr/>
          </a:p>
        </p:txBody>
      </p:sp>
      <p:graphicFrame>
        <p:nvGraphicFramePr>
          <p:cNvPr id="304" name="Google Shape;304;p25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{CC16A1BC-36C8-4648-86B1-20EBE51095D4}</a:tableStyleId>
              </a:tblPr>
              <a:tblGrid>
                <a:gridCol w="1079000"/>
                <a:gridCol w="1079000"/>
                <a:gridCol w="1079000"/>
                <a:gridCol w="1079000"/>
                <a:gridCol w="1079000"/>
              </a:tblGrid>
              <a:tr h="6531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sem reuso (KB)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com reuso (KB)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economia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241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3,407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2,404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29%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266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29%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2,663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1,905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28%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196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144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27%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53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1,931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1,404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27%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reuse.png" id="305" name="Google Shape;30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O reaproveitamento economiza ~27-30% do tamanho do arquivo neste workload.</a:t>
            </a:r>
            <a:endParaRPr/>
          </a:p>
        </p:txBody>
      </p:sp>
      <p:sp>
        <p:nvSpPr>
          <p:cNvPr id="307" name="Google Shape;307;p2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26/38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As duas máquinas da avaliação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455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69080"/>
                <a:gridCol w="455371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45720" marT="13716" marB="13716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Notebook (referência)</a:t>
                      </a:r>
                    </a:p>
                  </a:txBody>
                  <a:tcPr marL="73152" marR="45720" marT="13716" marB="13716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Titan — USP</a:t>
                      </a:r>
                    </a:p>
                  </a:txBody>
                  <a:tcPr marL="73152" marR="45720" marT="13716" marB="13716" anchor="ctr">
                    <a:solidFill>
                      <a:srgbClr val="7C3AB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CPU</a:t>
                      </a:r>
                    </a:p>
                  </a:txBody>
                  <a:tcPr marL="73152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Intel Core 7 240H</a:t>
                      </a:r>
                    </a:p>
                  </a:txBody>
                  <a:tcPr marL="73152" marR="45720" marT="13716" marB="13716" anchor="ctr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AMD Ryzen Threadripper PRO 5975WX</a:t>
                      </a:r>
                    </a:p>
                  </a:txBody>
                  <a:tcPr marL="73152" marR="45720" marT="13716" marB="13716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Núcleos / threads</a:t>
                      </a:r>
                    </a:p>
                  </a:txBody>
                  <a:tcPr marL="73152" marR="45720" marT="13716" marB="1371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8 núcleos / 16 threads</a:t>
                      </a:r>
                    </a:p>
                  </a:txBody>
                  <a:tcPr marL="73152" marR="45720" marT="13716" marB="13716" anchor="ctr">
                    <a:solidFill>
                      <a:srgbClr val="EF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32 núcleos / 64 threads</a:t>
                      </a:r>
                    </a:p>
                  </a:txBody>
                  <a:tcPr marL="73152" marR="45720" marT="13716" marB="13716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Cache (L1d·L2·L3)</a:t>
                      </a:r>
                    </a:p>
                  </a:txBody>
                  <a:tcPr marL="73152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384 KiB · 10 · 24 MiB</a:t>
                      </a:r>
                    </a:p>
                  </a:txBody>
                  <a:tcPr marL="73152" marR="45720" marT="13716" marB="13716" anchor="ctr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1 · 16 · 128 MiB</a:t>
                      </a:r>
                    </a:p>
                  </a:txBody>
                  <a:tcPr marL="73152" marR="45720" marT="13716" marB="13716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Memória RAM</a:t>
                      </a:r>
                    </a:p>
                  </a:txBody>
                  <a:tcPr marL="73152" marR="45720" marT="13716" marB="1371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16 GiB</a:t>
                      </a:r>
                    </a:p>
                  </a:txBody>
                  <a:tcPr marL="73152" marR="45720" marT="13716" marB="13716" anchor="ctr">
                    <a:solidFill>
                      <a:srgbClr val="EF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125 GiB</a:t>
                      </a:r>
                    </a:p>
                  </a:txBody>
                  <a:tcPr marL="73152" marR="45720" marT="13716" marB="13716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73152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Ubuntu 24.04 — WSL2 (Windows)</a:t>
                      </a:r>
                    </a:p>
                  </a:txBody>
                  <a:tcPr marL="73152" marR="45720" marT="13716" marB="13716" anchor="ctr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Ubuntu 24.04 — bare-metal</a:t>
                      </a:r>
                    </a:p>
                  </a:txBody>
                  <a:tcPr marL="73152" marR="45720" marT="13716" marB="13716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Kernel</a:t>
                      </a:r>
                    </a:p>
                  </a:txBody>
                  <a:tcPr marL="73152" marR="45720" marT="13716" marB="1371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6.6 (WSL2)</a:t>
                      </a:r>
                    </a:p>
                  </a:txBody>
                  <a:tcPr marL="73152" marR="45720" marT="13716" marB="13716" anchor="ctr">
                    <a:solidFill>
                      <a:srgbClr val="EF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6.17 (generic)</a:t>
                      </a:r>
                    </a:p>
                  </a:txBody>
                  <a:tcPr marL="73152" marR="45720" marT="13716" marB="13716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Compilador</a:t>
                      </a:r>
                    </a:p>
                  </a:txBody>
                  <a:tcPr marL="73152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g++ 13.3.0 · C++17 -O2</a:t>
                      </a:r>
                    </a:p>
                  </a:txBody>
                  <a:tcPr marL="73152" marR="45720" marT="13716" marB="13716" anchor="ctr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g++ 13.3.0 · C++17 -O2</a:t>
                      </a:r>
                    </a:p>
                  </a:txBody>
                  <a:tcPr marL="73152" marR="45720" marT="13716" marB="13716" anchor="ctr">
                    <a:solidFill>
                      <a:srgbClr val="EDE9F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Ferramentas</a:t>
                      </a:r>
                    </a:p>
                  </a:txBody>
                  <a:tcPr marL="73152" marR="45720" marT="13716" marB="1371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Make 4.3 · Graphviz 2.43 · Py 3.12</a:t>
                      </a:r>
                    </a:p>
                  </a:txBody>
                  <a:tcPr marL="73152" marR="45720" marT="13716" marB="13716" anchor="ctr">
                    <a:solidFill>
                      <a:srgbClr val="EF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Make 4.3 · Graphviz 2.43 · Py 3.12</a:t>
                      </a:r>
                    </a:p>
                  </a:txBody>
                  <a:tcPr marL="73152" marR="45720" marT="13716" marB="13716" anchor="ctr">
                    <a:solidFill>
                      <a:srgbClr val="F4F1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Disco do arquivo .bin</a:t>
                      </a:r>
                    </a:p>
                  </a:txBody>
                  <a:tcPr marL="73152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ext4 (disco virtual WSL2)</a:t>
                      </a:r>
                    </a:p>
                  </a:txBody>
                  <a:tcPr marL="73152" marR="45720" marT="13716" marB="13716" anchor="ctr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Calibri"/>
                        </a:rPr>
                        <a:t>ext4 (SSD NVMe, bare-metal)</a:t>
                      </a:r>
                    </a:p>
                  </a:txBody>
                  <a:tcPr marL="73152" marR="45720" marT="13716" marB="13716" anchor="ctr">
                    <a:solidFill>
                      <a:srgbClr val="EDE9F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Mesmo software (g++ 13.3, mesmas ferramentas); hardware e ambiente bem diferentes. Ainda assim, os acessos a disco saem idênticos — só o tempo muda.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27/38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6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tempo (wall)</a:t>
            </a:r>
            <a:endParaRPr/>
          </a:p>
        </p:txBody>
      </p:sp>
      <p:graphicFrame>
        <p:nvGraphicFramePr>
          <p:cNvPr id="314" name="Google Shape;314;p26"/>
          <p:cNvGraphicFramePr/>
          <p:nvPr/>
        </p:nvGraphicFramePr>
        <p:xfrm>
          <a:off x="365760" y="1051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{CC16A1BC-36C8-4648-86B1-20EBE51095D4}</a:tableStyleId>
              </a:tblPr>
              <a:tblGrid>
                <a:gridCol w="1079000"/>
                <a:gridCol w="1079000"/>
                <a:gridCol w="1079000"/>
                <a:gridCol w="1079000"/>
                <a:gridCol w="1079000"/>
              </a:tblGrid>
              <a:tr h="9144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acessos disco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Notebook wall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Titan wall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speedup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D4ED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4.982.252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6.05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7.78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0.78×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2.006.878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2.61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2.23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1.17×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1.346.869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2.02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1.48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1.36×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1.033.255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2.22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1.96 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 u="none" cap="none" strike="noStrike">
                          <a:solidFill>
                            <a:srgbClr val="111827"/>
                          </a:solidFill>
                        </a:rPr>
                        <a:t>1.14×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descr="chart_wall_machines.png" id="315" name="Google Shape;31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9320" y="1280160"/>
            <a:ext cx="5943600" cy="3307457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6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Mesmo programa, 2 máquinas: acessos a disco idênticos; só o tempo muda — a curva tem a mesma forma.</a:t>
            </a:r>
            <a:endParaRPr/>
          </a:p>
        </p:txBody>
      </p:sp>
      <p:sp>
        <p:nvSpPr>
          <p:cNvPr id="317" name="Google Shape;317;p2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28/38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7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CPU e determinismo</a:t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457200" y="1051560"/>
            <a:ext cx="11247120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Tempo é quase todo CPU de sistema (I/O), não espera de disco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idênticos: todos os pontos sobre y=x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Determinística e portável</a:t>
            </a:r>
            <a:endParaRPr/>
          </a:p>
        </p:txBody>
      </p:sp>
      <p:pic>
        <p:nvPicPr>
          <p:cNvPr descr="chart_cpu_split.png" id="325" name="Google Shape;32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274" y="3200400"/>
            <a:ext cx="5258252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7"/>
          <p:cNvSpPr txBox="1"/>
          <p:nvPr/>
        </p:nvSpPr>
        <p:spPr>
          <a:xfrm>
            <a:off x="365760" y="615648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CPU usuário vs sistema (I/O) nas 2 máquinas</a:t>
            </a:r>
            <a:endParaRPr/>
          </a:p>
        </p:txBody>
      </p:sp>
      <p:pic>
        <p:nvPicPr>
          <p:cNvPr descr="chart_determinism.png" id="327" name="Google Shape;32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69154" y="3200400"/>
            <a:ext cx="5258252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7"/>
          <p:cNvSpPr txBox="1"/>
          <p:nvPr/>
        </p:nvSpPr>
        <p:spPr>
          <a:xfrm>
            <a:off x="6263640" y="615648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Acessos a disco idênticos — pontos sobre y=x</a:t>
            </a:r>
            <a:endParaRPr/>
          </a:p>
        </p:txBody>
      </p:sp>
      <p:sp>
        <p:nvSpPr>
          <p:cNvPr id="329" name="Google Shape;329;p27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29/38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8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validação cruzada</a:t>
            </a:r>
            <a:endParaRPr/>
          </a:p>
        </p:txBody>
      </p:sp>
      <p:sp>
        <p:nvSpPr>
          <p:cNvPr id="336" name="Google Shape;336;p28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Notebook × Titan (USP)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Acessos a disco idênticos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Só o tempo varia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Comparação via compare.py</a:t>
            </a:r>
            <a:endParaRPr/>
          </a:p>
        </p:txBody>
      </p:sp>
      <p:pic>
        <p:nvPicPr>
          <p:cNvPr descr="chart_machines.png" id="337" name="Google Shape;33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8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30/38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9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Dois sistemas — escala do conjunto</a:t>
            </a:r>
            <a:endParaRPr/>
          </a:p>
        </p:txBody>
      </p:sp>
      <p:sp>
        <p:nvSpPr>
          <p:cNvPr id="345" name="Google Shape;345;p29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 até 1 milhão (m=100), nas 2 máquinas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Tempo cresce devagar (logarítmico)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Mesma tendência; Titan mais rápido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pt-BR" sz="16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Prova prática de escalabilidade</a:t>
            </a:r>
            <a:endParaRPr/>
          </a:p>
        </p:txBody>
      </p:sp>
      <p:pic>
        <p:nvPicPr>
          <p:cNvPr descr="chart_scale_machines.png" id="346" name="Google Shape;34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1371600"/>
            <a:ext cx="5577840" cy="3103921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9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31/38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0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 se usássemos union no header? (sugestão do prof.)</a:t>
            </a:r>
            <a:endParaRPr/>
          </a:p>
        </p:txBody>
      </p:sp>
      <p:sp>
        <p:nvSpPr>
          <p:cNvPr id="354" name="Google Shape;354;p30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Como está hoje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Header e BNode são tipos separados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E/S serializa campo a campo (memcpy)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Header usa 1 página inteira (RRN uniforme)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Nó livre esconde o próximo em K[1]</a:t>
            </a:r>
            <a:endParaRPr/>
          </a:p>
        </p:txBody>
      </p:sp>
      <p:sp>
        <p:nvSpPr>
          <p:cNvPr id="355" name="Google Shape;355;p30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Com union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Página única: header e nós no mesmo tamanho fixo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Lê/escreve a página inteira → menos código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FreeNode.next explícito (autodocumentado)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Custo: portabilidade do binário (padding/endianness)</a:t>
            </a:r>
            <a:endParaRPr/>
          </a:p>
        </p:txBody>
      </p:sp>
      <p:sp>
        <p:nvSpPr>
          <p:cNvPr id="356" name="Google Shape;356;p30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32/38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1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Dificuldades técnicas</a:t>
            </a:r>
            <a:endParaRPr/>
          </a:p>
        </p:txBody>
      </p:sp>
      <p:sp>
        <p:nvSpPr>
          <p:cNvPr id="363" name="Google Shape;363;p31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Indexação 1-based (RRN 0 = header)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Remoção: manter o path para reparar underflow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eofbit do fstream → resolvido com clear()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Serialização campo a campo é propensa a erro</a:t>
            </a:r>
            <a:endParaRPr/>
          </a:p>
        </p:txBody>
      </p:sp>
      <p:sp>
        <p:nvSpPr>
          <p:cNvPr id="364" name="Google Shape;364;p31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33/38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Vantagens × Desvantagens</a:t>
            </a:r>
            <a:endParaRPr/>
          </a:p>
        </p:txBody>
      </p:sp>
      <p:sp>
        <p:nvSpPr>
          <p:cNvPr id="371" name="Google Shape;371;p32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Vantagens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Altura baixa → poucos acessos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Sempre balanceada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Ideal para disco e índices de SGBD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Determinística + reuso de espaço</a:t>
            </a:r>
            <a:endParaRPr/>
          </a:p>
        </p:txBody>
      </p:sp>
      <p:sp>
        <p:nvSpPr>
          <p:cNvPr id="372" name="Google Shape;372;p32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5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Desvantagens / custos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Nós subocupados (~50% no sequencial)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Remoção complexa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m muito grande → mais CPU por nó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lang="pt-BR" sz="14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Existe um m ótimo (tamanho de bloco)</a:t>
            </a:r>
            <a:endParaRPr/>
          </a:p>
        </p:txBody>
      </p:sp>
      <p:sp>
        <p:nvSpPr>
          <p:cNvPr id="373" name="Google Shape;373;p32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34/38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3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Aplicações práticas</a:t>
            </a:r>
            <a:endParaRPr/>
          </a:p>
        </p:txBody>
      </p:sp>
      <p:sp>
        <p:nvSpPr>
          <p:cNvPr id="380" name="Google Shape;380;p3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SGBDs: MySQL/InnoDB, PostgreSQL, Oracle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Sistemas de arquivos: NTFS, APFS, ext4, Btrfs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Chave-valor: SQLite, LMDB, BerkeleyDB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Uso natural: índice de um banco em disco</a:t>
            </a:r>
            <a:endParaRPr/>
          </a:p>
        </p:txBody>
      </p:sp>
      <p:sp>
        <p:nvSpPr>
          <p:cNvPr id="381" name="Google Shape;381;p33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35/38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5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/>
          </a:p>
        </p:txBody>
      </p:sp>
      <p:sp>
        <p:nvSpPr>
          <p:cNvPr id="388" name="Google Shape;388;p35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Árvore B 100% em disco, 1 nó por I/O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I/O por operação cai com m até saturar (~64-128)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Free list economiza ~27-30% de espaço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Determinística: acessos idênticos em 2 máquinas</a:t>
            </a:r>
            <a:endParaRPr/>
          </a:p>
        </p:txBody>
      </p:sp>
      <p:sp>
        <p:nvSpPr>
          <p:cNvPr id="389" name="Google Shape;389;p3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36/38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6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Referências</a:t>
            </a:r>
            <a:endParaRPr/>
          </a:p>
        </p:txBody>
      </p:sp>
      <p:sp>
        <p:nvSpPr>
          <p:cNvPr id="396" name="Google Shape;396;p36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Comer, D. (1979). The Ubiquitous B-Tree. ACM Computing Surveys.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Knuth, D. The Art of Computer Programming, Vol. 3.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Bayer, R. &amp; McCreight, E. (1972). Large Ordered Indexes.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Baranauskas, J. A. Slides AED-PG-2026 (Árvores B). DCM / USP.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pt-BR" sz="2000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•  Obrigado! Perguntas?</a:t>
            </a:r>
            <a:endParaRPr/>
          </a:p>
        </p:txBody>
      </p:sp>
      <p:sp>
        <p:nvSpPr>
          <p:cNvPr id="397" name="Google Shape;397;p3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6B7280"/>
                </a:solidFill>
                <a:latin typeface="Calibri"/>
              </a:rPr>
              <a:t>Árvore B em Memória Secundária — AED-PG-2026          37/38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Cezio Ferreira</dc:creator>
</cp:coreProperties>
</file>