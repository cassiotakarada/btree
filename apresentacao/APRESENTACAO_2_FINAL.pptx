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39" roundtripDataSignature="AMtx7mg3MPMnN5/aARrGpQ4PszArKSnbO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3B23757-EC40-42A0-A68A-69D55510E7BF}">
  <a:tblStyle styleId="{A3B23757-EC40-42A0-A68A-69D55510E7BF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fill>
          <a:solidFill>
            <a:srgbClr val="CFD7E7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FD7E7"/>
          </a:solidFill>
        </a:fill>
      </a:tcStyle>
    </a:band1V>
    <a:band2V>
      <a:tcTxStyle b="off" i="off"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  <a:tblStyle styleId="{F93A2A37-E859-4EAC-A324-26A2DBED01F2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customschemas.google.com/relationships/presentationmetadata" Target="metadata"/><Relationship Id="rId16" Type="http://schemas.openxmlformats.org/officeDocument/2006/relationships/slide" Target="slides/slide10.xml"/><Relationship Id="rId38" Type="http://schemas.openxmlformats.org/officeDocument/2006/relationships/slide" Target="slides/slide32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4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5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5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5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5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5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5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5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5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5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6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6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6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6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8" name="Google Shape;218;p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1" name="Google Shape;231;p3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2" name="Google Shape;252;p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0" name="Google Shape;270;p1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1" name="Google Shape;281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1" name="Google Shape;291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0" name="Google Shape;300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6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9" name="Google Shape;319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9" name="Google Shape;329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1" name="Google Shape;341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50" name="Google Shape;350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6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70" name="Google Shape;370;p3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89" name="Google Shape;389;p3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08" name="Google Shape;408;p3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8" name="Google Shape;428;p3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3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9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0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1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2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42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4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4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3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43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43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43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4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4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4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4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4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45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45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4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4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4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46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46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4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4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47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4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4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4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48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4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4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4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3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3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3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3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49"/>
          <p:cNvSpPr/>
          <p:nvPr/>
        </p:nvSpPr>
        <p:spPr>
          <a:xfrm>
            <a:off x="0" y="0"/>
            <a:ext cx="12192000" cy="32385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49"/>
          <p:cNvSpPr/>
          <p:nvPr/>
        </p:nvSpPr>
        <p:spPr>
          <a:xfrm>
            <a:off x="762000" y="2667000"/>
            <a:ext cx="1143000" cy="57300"/>
          </a:xfrm>
          <a:prstGeom prst="roundRect">
            <a:avLst>
              <a:gd fmla="val 50000" name="adj"/>
            </a:avLst>
          </a:prstGeom>
          <a:solidFill>
            <a:srgbClr val="60A5F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6" name="Google Shape;86;p49"/>
          <p:cNvGrpSpPr/>
          <p:nvPr/>
        </p:nvGrpSpPr>
        <p:grpSpPr>
          <a:xfrm>
            <a:off x="762000" y="3619500"/>
            <a:ext cx="10668000" cy="2476500"/>
            <a:chOff x="0" y="0"/>
            <a:chExt cx="10668000" cy="2476500"/>
          </a:xfrm>
        </p:grpSpPr>
        <p:sp>
          <p:nvSpPr>
            <p:cNvPr id="87" name="Google Shape;87;p49"/>
            <p:cNvSpPr/>
            <p:nvPr/>
          </p:nvSpPr>
          <p:spPr>
            <a:xfrm>
              <a:off x="0" y="0"/>
              <a:ext cx="10668000" cy="2476500"/>
            </a:xfrm>
            <a:prstGeom prst="roundRect">
              <a:avLst>
                <a:gd fmla="val 6153" name="adj"/>
              </a:avLst>
            </a:prstGeom>
            <a:solidFill>
              <a:srgbClr val="FFFFFF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49"/>
            <p:cNvSpPr txBox="1"/>
            <p:nvPr/>
          </p:nvSpPr>
          <p:spPr>
            <a:xfrm>
              <a:off x="381000" y="381000"/>
              <a:ext cx="99060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24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Disciplina &amp; Contexto</a:t>
              </a:r>
              <a:endParaRPr b="1" sz="124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pt-BR" sz="124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Algoritmos e Estruturas de Dados — AED-PG-2026 (5955001-3)</a:t>
              </a:r>
              <a:endParaRPr sz="124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pt-BR" sz="124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Prof. Dr. José Augusto Baranauskas — DCM / USP</a:t>
              </a:r>
              <a:endParaRPr sz="124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0"/>
                </a:spcBef>
                <a:spcAft>
                  <a:spcPts val="0"/>
                </a:spcAft>
                <a:buNone/>
              </a:pPr>
              <a:r>
                <a:rPr b="1" lang="pt-BR" sz="124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Desenvolvedores &amp; Tecnologia</a:t>
              </a:r>
              <a:endParaRPr b="1" sz="124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pt-BR" sz="124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Cássio Takarada · Cézio Luiz Ferreira Junior</a:t>
              </a:r>
              <a:endParaRPr sz="124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pt-BR" sz="124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C++17 · 1º Semestre / 2026</a:t>
              </a:r>
              <a:endParaRPr sz="124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9" name="Google Shape;89;p49"/>
          <p:cNvSpPr txBox="1"/>
          <p:nvPr/>
        </p:nvSpPr>
        <p:spPr>
          <a:xfrm>
            <a:off x="762000" y="762000"/>
            <a:ext cx="10668000" cy="800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5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Árvores B</a:t>
            </a:r>
            <a:endParaRPr b="1" sz="5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9"/>
          <p:cNvSpPr txBox="1"/>
          <p:nvPr/>
        </p:nvSpPr>
        <p:spPr>
          <a:xfrm>
            <a:off x="762000" y="1905000"/>
            <a:ext cx="10668000" cy="307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2000">
                <a:solidFill>
                  <a:srgbClr val="DBEAFE"/>
                </a:solidFill>
                <a:latin typeface="Calibri"/>
                <a:ea typeface="Calibri"/>
                <a:cs typeface="Calibri"/>
                <a:sym typeface="Calibri"/>
              </a:rPr>
              <a:t>Uma classe Árvore B de ordem m operando estritamente em disco</a:t>
            </a:r>
            <a:endParaRPr b="0" sz="2000">
              <a:solidFill>
                <a:srgbClr val="DBEAF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50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50"/>
          <p:cNvSpPr txBox="1"/>
          <p:nvPr/>
        </p:nvSpPr>
        <p:spPr>
          <a:xfrm>
            <a:off x="571500" y="238125"/>
            <a:ext cx="11049000" cy="554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3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Roteiro da Apresentação</a:t>
            </a:r>
            <a:endParaRPr b="1" sz="3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7" name="Google Shape;97;p50"/>
          <p:cNvGrpSpPr/>
          <p:nvPr/>
        </p:nvGrpSpPr>
        <p:grpSpPr>
          <a:xfrm>
            <a:off x="571500" y="1524000"/>
            <a:ext cx="5334000" cy="4572000"/>
            <a:chOff x="0" y="0"/>
            <a:chExt cx="5334000" cy="4572000"/>
          </a:xfrm>
        </p:grpSpPr>
        <p:sp>
          <p:nvSpPr>
            <p:cNvPr id="98" name="Google Shape;98;p50"/>
            <p:cNvSpPr/>
            <p:nvPr/>
          </p:nvSpPr>
          <p:spPr>
            <a:xfrm>
              <a:off x="0" y="0"/>
              <a:ext cx="5334000" cy="4572000"/>
            </a:xfrm>
            <a:prstGeom prst="roundRect">
              <a:avLst>
                <a:gd fmla="val 333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" name="Google Shape;99;p50"/>
            <p:cNvSpPr/>
            <p:nvPr/>
          </p:nvSpPr>
          <p:spPr>
            <a:xfrm>
              <a:off x="0" y="0"/>
              <a:ext cx="5334000" cy="571500"/>
            </a:xfrm>
            <a:prstGeom prst="roundRect">
              <a:avLst>
                <a:gd fmla="val 26666" name="adj"/>
              </a:avLst>
            </a:prstGeom>
            <a:solidFill>
              <a:srgbClr val="1D4ED8">
                <a:alpha val="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50"/>
            <p:cNvSpPr txBox="1"/>
            <p:nvPr/>
          </p:nvSpPr>
          <p:spPr>
            <a:xfrm>
              <a:off x="285750" y="190500"/>
              <a:ext cx="4762500" cy="419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20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Parte 1 — A Estrutura</a:t>
              </a:r>
              <a:endParaRPr b="1" sz="20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875"/>
                </a:spcBef>
                <a:spcAft>
                  <a:spcPts val="0"/>
                </a:spcAft>
                <a:buNone/>
              </a:pPr>
              <a:r>
                <a:rPr lang="pt-BR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•</a:t>
              </a:r>
              <a:r>
                <a:rPr lang="pt-BR"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b="1" lang="pt-BR" sz="16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Contextualização: </a:t>
              </a:r>
              <a:r>
                <a:rPr b="0" lang="pt-BR" sz="16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Por que disco e por que Árvore B?</a:t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350"/>
                </a:spcBef>
                <a:spcAft>
                  <a:spcPts val="0"/>
                </a:spcAft>
                <a:buNone/>
              </a:pPr>
              <a:r>
                <a:rPr lang="pt-BR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•</a:t>
              </a:r>
              <a:r>
                <a:rPr lang="pt-BR"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b="1" lang="pt-BR" sz="16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Estrutura: </a:t>
              </a:r>
              <a:r>
                <a:rPr b="0" lang="pt-BR" sz="16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Nó e arquivo (parâmetros e nó)</a:t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350"/>
                </a:spcBef>
                <a:spcAft>
                  <a:spcPts val="0"/>
                </a:spcAft>
                <a:buNone/>
              </a:pPr>
              <a:r>
                <a:rPr lang="pt-BR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•</a:t>
              </a:r>
              <a:r>
                <a:rPr lang="pt-BR"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b="1" lang="pt-BR" sz="16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Problema e objetivo do projeto</a:t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pt-BR">
                  <a:solidFill>
                    <a:srgbClr val="64748B"/>
                  </a:solidFill>
                  <a:latin typeface="Calibri"/>
                  <a:ea typeface="Calibri"/>
                  <a:cs typeface="Calibri"/>
                  <a:sym typeface="Calibri"/>
                </a:rPr>
                <a:t>○</a:t>
              </a:r>
              <a:r>
                <a:rPr lang="pt-BR"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i="1" lang="pt-BR" sz="1400">
                  <a:solidFill>
                    <a:srgbClr val="64748B"/>
                  </a:solidFill>
                  <a:latin typeface="Calibri"/>
                  <a:ea typeface="Calibri"/>
                  <a:cs typeface="Calibri"/>
                  <a:sym typeface="Calibri"/>
                </a:rPr>
                <a:t>Recordação: Busca, inserção e remoção</a:t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350"/>
                </a:spcBef>
                <a:spcAft>
                  <a:spcPts val="0"/>
                </a:spcAft>
                <a:buNone/>
              </a:pPr>
              <a:r>
                <a:rPr lang="pt-BR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•</a:t>
              </a:r>
              <a:r>
                <a:rPr lang="pt-BR"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b="1" lang="pt-BR" sz="16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Demonstração ao vivo</a:t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1" name="Google Shape;101;p50"/>
          <p:cNvGrpSpPr/>
          <p:nvPr/>
        </p:nvGrpSpPr>
        <p:grpSpPr>
          <a:xfrm>
            <a:off x="6286500" y="1524000"/>
            <a:ext cx="5334000" cy="4572000"/>
            <a:chOff x="0" y="0"/>
            <a:chExt cx="5334000" cy="4572000"/>
          </a:xfrm>
        </p:grpSpPr>
        <p:sp>
          <p:nvSpPr>
            <p:cNvPr id="102" name="Google Shape;102;p50"/>
            <p:cNvSpPr/>
            <p:nvPr/>
          </p:nvSpPr>
          <p:spPr>
            <a:xfrm>
              <a:off x="0" y="0"/>
              <a:ext cx="5334000" cy="4572000"/>
            </a:xfrm>
            <a:prstGeom prst="roundRect">
              <a:avLst>
                <a:gd fmla="val 333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50"/>
            <p:cNvSpPr/>
            <p:nvPr/>
          </p:nvSpPr>
          <p:spPr>
            <a:xfrm>
              <a:off x="0" y="0"/>
              <a:ext cx="5334000" cy="571500"/>
            </a:xfrm>
            <a:prstGeom prst="roundRect">
              <a:avLst>
                <a:gd fmla="val 26666" name="adj"/>
              </a:avLst>
            </a:prstGeom>
            <a:solidFill>
              <a:srgbClr val="1D4ED8">
                <a:alpha val="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50"/>
            <p:cNvSpPr txBox="1"/>
            <p:nvPr/>
          </p:nvSpPr>
          <p:spPr>
            <a:xfrm>
              <a:off x="285750" y="190500"/>
              <a:ext cx="4762500" cy="419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20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Parte 2 — A Avaliação</a:t>
              </a:r>
              <a:endParaRPr b="1" sz="20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875"/>
                </a:spcBef>
                <a:spcAft>
                  <a:spcPts val="0"/>
                </a:spcAft>
                <a:buNone/>
              </a:pPr>
              <a:r>
                <a:rPr lang="pt-BR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•</a:t>
              </a:r>
              <a:r>
                <a:rPr lang="pt-BR"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b="1" lang="pt-BR" sz="16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Experimentos e métricas</a:t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875"/>
                </a:spcBef>
                <a:spcAft>
                  <a:spcPts val="0"/>
                </a:spcAft>
                <a:buNone/>
              </a:pPr>
              <a:r>
                <a:rPr lang="pt-BR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•</a:t>
              </a:r>
              <a:r>
                <a:rPr lang="pt-BR"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b="1" lang="pt-BR" sz="16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Impacto da ordem m</a:t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875"/>
                </a:spcBef>
                <a:spcAft>
                  <a:spcPts val="0"/>
                </a:spcAft>
                <a:buNone/>
              </a:pPr>
              <a:r>
                <a:rPr lang="pt-BR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•</a:t>
              </a:r>
              <a:r>
                <a:rPr lang="pt-BR"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b="1" lang="pt-BR" sz="16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Escala e reaproveitamento</a:t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875"/>
                </a:spcBef>
                <a:spcAft>
                  <a:spcPts val="0"/>
                </a:spcAft>
                <a:buNone/>
              </a:pPr>
              <a:r>
                <a:rPr lang="pt-BR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•</a:t>
              </a:r>
              <a:r>
                <a:rPr lang="pt-BR"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b="1" lang="pt-BR" sz="16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Validação em 2 máquinas + conclusões</a:t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5" name="Google Shape;105;p50"/>
          <p:cNvSpPr txBox="1"/>
          <p:nvPr/>
        </p:nvSpPr>
        <p:spPr>
          <a:xfrm>
            <a:off x="571500" y="6477000"/>
            <a:ext cx="11049000" cy="15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0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 — AED-PG-2026 1/38</a:t>
            </a:r>
            <a:endParaRPr b="0" sz="1000">
              <a:solidFill>
                <a:srgbClr val="94A3B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1"/>
          <p:cNvSpPr/>
          <p:nvPr/>
        </p:nvSpPr>
        <p:spPr>
          <a:xfrm>
            <a:off x="-40615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51"/>
          <p:cNvSpPr txBox="1"/>
          <p:nvPr/>
        </p:nvSpPr>
        <p:spPr>
          <a:xfrm>
            <a:off x="457200" y="215774"/>
            <a:ext cx="11247120" cy="4462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Contextualização: memória rápida × disco lento</a:t>
            </a:r>
            <a:endParaRPr/>
          </a:p>
        </p:txBody>
      </p:sp>
      <p:sp>
        <p:nvSpPr>
          <p:cNvPr id="112" name="Google Shape;112;p51"/>
          <p:cNvSpPr txBox="1"/>
          <p:nvPr/>
        </p:nvSpPr>
        <p:spPr>
          <a:xfrm>
            <a:off x="133350" y="2033955"/>
            <a:ext cx="12017730" cy="3631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Noto Sans Symbols"/>
              <a:buChar char="⮚"/>
            </a:pPr>
            <a:r>
              <a:rPr b="0" i="0" lang="pt-BR" sz="20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Por que disco e por que Árvore B ?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11182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Restrição: RAM é rápida, volátil e com </a:t>
            </a:r>
            <a:r>
              <a:rPr b="1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baixa capacidade de armazenamento.</a:t>
            </a:r>
            <a:endParaRPr b="0" i="0" sz="20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Solução: Disco possui alta capacidade de armazenamento, permanente, mas na </a:t>
            </a:r>
            <a:r>
              <a:rPr b="1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ordem de 10^6 mais lento</a:t>
            </a: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1" i="0" sz="20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Noto Sans Symbols"/>
              <a:buChar char="⇒"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Em um BD real o verdadeiro </a:t>
            </a:r>
            <a:r>
              <a:rPr b="1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gargalo</a:t>
            </a: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 é o número de acessos (I/O) ao disco.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Objetivo: Escolher ED que minimizem o número de acessos ao disco.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Noto Sans Symbols"/>
              <a:buChar char="⇒"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 Árvore B: menos profunda que outras estruturas (menos acessos ao disco).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51"/>
          <p:cNvSpPr txBox="1"/>
          <p:nvPr/>
        </p:nvSpPr>
        <p:spPr>
          <a:xfrm>
            <a:off x="457200" y="6455664"/>
            <a:ext cx="11247120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 — AED-PG-2026         2/38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2"/>
          <p:cNvSpPr/>
          <p:nvPr/>
        </p:nvSpPr>
        <p:spPr>
          <a:xfrm>
            <a:off x="0" y="0"/>
            <a:ext cx="12192000" cy="771525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 Árvore B: Parâmetros e Estrutura formal do nó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52"/>
          <p:cNvSpPr txBox="1"/>
          <p:nvPr/>
        </p:nvSpPr>
        <p:spPr>
          <a:xfrm>
            <a:off x="552448" y="4420701"/>
            <a:ext cx="8545543" cy="13234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Registro de tamanho fixo (todos os nós têm o mesmo tamanho)→  acesso direto ao nó via offset.</a:t>
            </a:r>
            <a:endParaRPr b="0" i="0" sz="16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Campos: n · ponteiros A[ ] · chaves K[ ]</a:t>
            </a:r>
            <a:endParaRPr b="0" i="0" sz="16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t-BR" sz="12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   Exemplo, leia A[0] = 17:  “filho esquerdo de um nó está no RRN 17”</a:t>
            </a:r>
            <a:endParaRPr b="0" i="0" sz="1200" u="none" cap="none" strike="noStrik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Ordem m → até m-1 chaves e m filhos</a:t>
            </a:r>
            <a:endParaRPr b="0" i="0" sz="16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hart_node_anatomy.png" id="120" name="Google Shape;120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8600" y="910941"/>
            <a:ext cx="7742928" cy="305752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2"/>
          <p:cNvSpPr txBox="1"/>
          <p:nvPr/>
        </p:nvSpPr>
        <p:spPr>
          <a:xfrm>
            <a:off x="457200" y="6455664"/>
            <a:ext cx="11247120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secundária— AED-PG-2026         3/38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5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53"/>
          <p:cNvSpPr txBox="1"/>
          <p:nvPr/>
        </p:nvSpPr>
        <p:spPr>
          <a:xfrm>
            <a:off x="457200" y="215774"/>
            <a:ext cx="11247120" cy="4462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Árvores geradas pelo Graphviz</a:t>
            </a:r>
            <a:endParaRPr b="1" i="0" sz="23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53"/>
          <p:cNvSpPr txBox="1"/>
          <p:nvPr/>
        </p:nvSpPr>
        <p:spPr>
          <a:xfrm>
            <a:off x="457200" y="1051560"/>
            <a:ext cx="11247120" cy="9900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5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Cada caixa= nó no disco (RRN)</a:t>
            </a:r>
            <a:endParaRPr b="0" i="0" sz="15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t-BR" sz="15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pt-BR" sz="15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 m=3 e </a:t>
            </a:r>
            <a:r>
              <a:rPr b="0" i="0" lang="pt-BR" sz="15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m=4 ( mais chaves por nó→ </a:t>
            </a:r>
            <a:r>
              <a:rPr b="1" i="0" lang="pt-BR" sz="15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tende</a:t>
            </a:r>
            <a:r>
              <a:rPr b="0" i="0" lang="pt-BR" sz="15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 a ser menos profunda)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t-BR" sz="15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  Obs</a:t>
            </a:r>
            <a:r>
              <a:rPr b="0" i="1" lang="pt-BR" sz="15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: h ≈ logₘ(n</a:t>
            </a:r>
            <a:r>
              <a:rPr b="0" i="0" lang="pt-BR" sz="15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) </a:t>
            </a:r>
            <a:endParaRPr b="0" i="0" sz="15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raphs_m3_m5.png" id="129" name="Google Shape;129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9501" y="2939796"/>
            <a:ext cx="8020318" cy="242316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53"/>
          <p:cNvSpPr txBox="1"/>
          <p:nvPr/>
        </p:nvSpPr>
        <p:spPr>
          <a:xfrm>
            <a:off x="457200" y="6455664"/>
            <a:ext cx="11247120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 — AED-PG-2026          4/38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4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54"/>
          <p:cNvSpPr txBox="1"/>
          <p:nvPr/>
        </p:nvSpPr>
        <p:spPr>
          <a:xfrm>
            <a:off x="457200" y="215774"/>
            <a:ext cx="11247120" cy="4462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Layout do arquivo no disco</a:t>
            </a:r>
            <a:endParaRPr/>
          </a:p>
        </p:txBody>
      </p:sp>
      <p:sp>
        <p:nvSpPr>
          <p:cNvPr id="137" name="Google Shape;137;p54"/>
          <p:cNvSpPr txBox="1"/>
          <p:nvPr/>
        </p:nvSpPr>
        <p:spPr>
          <a:xfrm>
            <a:off x="95250" y="629678"/>
            <a:ext cx="6000750" cy="4873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Cabeçalho (RRN 0):</a:t>
            </a:r>
            <a:endParaRPr b="0" i="0" sz="16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Guarda</a:t>
            </a: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: a posição da raiz, total de nós, ponteiro da free list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RRN 0 = header (root, total, free_head)</a:t>
            </a:r>
            <a:endParaRPr b="0" i="0" sz="16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t-BR" sz="1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Permite abrir o arquivo com um único acesso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Acesso direto por RRN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Cada nó</a:t>
            </a: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:  ocupa uma página fixa</a:t>
            </a:r>
            <a:endParaRPr b="0" i="0" sz="16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offset = RRN × PAGE_SIZE (posição exata na memória).</a:t>
            </a:r>
            <a:endParaRPr b="0" i="0" sz="16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Reaproveitamento de nós (free List)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t-BR" sz="16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Nós removidos entram na free list (reuso)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free_head </a:t>
            </a: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aponta para o primeiro nó livre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t-BR" sz="16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Evita fragmentação e crescimento desnecessário do arquivo</a:t>
            </a:r>
            <a:endParaRPr b="0" i="0" sz="1600" u="none" cap="none" strike="noStrik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hart_file_layout.png" id="138" name="Google Shape;13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38157" y="1162536"/>
            <a:ext cx="6653537" cy="3062071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54"/>
          <p:cNvSpPr txBox="1"/>
          <p:nvPr/>
        </p:nvSpPr>
        <p:spPr>
          <a:xfrm>
            <a:off x="457200" y="6455664"/>
            <a:ext cx="11247120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em memória secundária— AED-PG-2026          5/38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5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55"/>
          <p:cNvSpPr txBox="1"/>
          <p:nvPr/>
        </p:nvSpPr>
        <p:spPr>
          <a:xfrm>
            <a:off x="502920" y="211202"/>
            <a:ext cx="11247120" cy="4462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Problema e objetivos</a:t>
            </a:r>
            <a:endParaRPr b="1" i="0" sz="23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55"/>
          <p:cNvSpPr txBox="1"/>
          <p:nvPr/>
        </p:nvSpPr>
        <p:spPr>
          <a:xfrm>
            <a:off x="795355" y="1276611"/>
            <a:ext cx="10850305" cy="3477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Noto Sans Symbols"/>
              <a:buChar char="⮚"/>
            </a:pPr>
            <a:r>
              <a:rPr b="1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Enunciado</a:t>
            </a: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: Implementação de uma classe Árvore B de ordem </a:t>
            </a:r>
            <a:r>
              <a:rPr b="0" i="1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m</a:t>
            </a: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 que resida em  MEMÓRIA SECUNDÁRIA (um arquivo em disco)</a:t>
            </a:r>
            <a:endParaRPr b="0" i="0" sz="20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15900" lvl="0" marL="3429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Noto Sans Symbols"/>
              <a:buNone/>
            </a:pPr>
            <a:r>
              <a:t/>
            </a:r>
            <a:endParaRPr b="0" i="0" sz="20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Restrição Central</a:t>
            </a: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: Nunca carregada inteira na RAM – cada operação acessa um nó por vez.</a:t>
            </a:r>
            <a:endParaRPr b="0" i="0" sz="20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Operações básicas </a:t>
            </a: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: Busca, inserção e Remoção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pt-BR" sz="20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  <a:r>
              <a:rPr b="0" i="0" lang="pt-BR" sz="20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: avaliação do desempenho para variações da ordem de m, n. 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Extra</a:t>
            </a: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: Implementação de uma </a:t>
            </a:r>
            <a:r>
              <a:rPr b="1" i="1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Free List </a:t>
            </a: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(reaproveitamento de nós deletados do disco).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Comparação</a:t>
            </a: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duas máquinas: </a:t>
            </a: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Notebook pessoal X Servidor Titan (USP)</a:t>
            </a:r>
            <a:endParaRPr/>
          </a:p>
        </p:txBody>
      </p:sp>
      <p:sp>
        <p:nvSpPr>
          <p:cNvPr id="147" name="Google Shape;147;p55"/>
          <p:cNvSpPr txBox="1"/>
          <p:nvPr/>
        </p:nvSpPr>
        <p:spPr>
          <a:xfrm>
            <a:off x="457200" y="6455664"/>
            <a:ext cx="11247120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secundária— AED-PG-2026          6/38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6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56"/>
          <p:cNvSpPr txBox="1"/>
          <p:nvPr/>
        </p:nvSpPr>
        <p:spPr>
          <a:xfrm>
            <a:off x="457200" y="215774"/>
            <a:ext cx="11247120" cy="4462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 índice e a métrica mais fiel</a:t>
            </a:r>
            <a:endParaRPr b="1" i="0" sz="23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56"/>
          <p:cNvSpPr txBox="1"/>
          <p:nvPr/>
        </p:nvSpPr>
        <p:spPr>
          <a:xfrm>
            <a:off x="640080" y="2656880"/>
            <a:ext cx="10972800" cy="209288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A estrutura “L</a:t>
            </a:r>
            <a:r>
              <a:rPr b="0" i="0" lang="pt-BR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ayout do arquivo em disco”(header + RRNs + páginas fixas), faz a Árvore B funcionar como um índice e evita a leitura do arquivo inteiro, ie, segue apenas o caminho raiz → folha.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pt-BR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 header (cabeçalho) aponta para a raiz: busca começa em um único acesso.</a:t>
            </a:r>
            <a:endParaRPr b="0" i="0" sz="20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Métrica mais fiel = nº de acessos ao disco (não o relógio).</a:t>
            </a:r>
            <a:endParaRPr b="0" i="0" sz="20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O relógio engana: a escrita vai ao cache do SO.</a:t>
            </a:r>
            <a:endParaRPr b="0" i="0" sz="20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56"/>
          <p:cNvSpPr txBox="1"/>
          <p:nvPr/>
        </p:nvSpPr>
        <p:spPr>
          <a:xfrm>
            <a:off x="457200" y="6455664"/>
            <a:ext cx="11247120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 — AED-PG-2026          7/38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57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57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Decisões de implementação</a:t>
            </a:r>
            <a:endParaRPr/>
          </a:p>
        </p:txBody>
      </p:sp>
      <p:sp>
        <p:nvSpPr>
          <p:cNvPr id="162" name="Google Shape;162;p57"/>
          <p:cNvSpPr txBox="1"/>
          <p:nvPr/>
        </p:nvSpPr>
        <p:spPr>
          <a:xfrm>
            <a:off x="457200" y="1062193"/>
            <a:ext cx="10944225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5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Resumo das principais decisões: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t-BR" sz="15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Ordem m definida em compilação: tamanho do nó é fixo, PAGE_SIZE constante→ cálculo de offsets é simplificado </a:t>
            </a:r>
            <a:endParaRPr b="0" i="0" sz="15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t-BR" sz="15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Raiz no header (cabeçalho) → abertura do arquivo em O(1) (um único acesso inicial)</a:t>
            </a:r>
            <a:endParaRPr b="0" i="0" sz="15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t-BR" sz="15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cada nó corresponde a uma página → cada leitura equivale a uma página→ métrica fica objetiva </a:t>
            </a:r>
            <a:endParaRPr b="0" i="0" sz="15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m3_final.png" id="163" name="Google Shape;163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9" y="2819400"/>
            <a:ext cx="11487151" cy="342849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57"/>
          <p:cNvSpPr txBox="1"/>
          <p:nvPr/>
        </p:nvSpPr>
        <p:spPr>
          <a:xfrm>
            <a:off x="457200" y="627789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(m=3, 40 chaves) exportada pelo próprio código — o número é o RRN no disco</a:t>
            </a:r>
            <a:endParaRPr/>
          </a:p>
        </p:txBody>
      </p:sp>
      <p:sp>
        <p:nvSpPr>
          <p:cNvPr id="165" name="Google Shape;165;p57"/>
          <p:cNvSpPr txBox="1"/>
          <p:nvPr/>
        </p:nvSpPr>
        <p:spPr>
          <a:xfrm>
            <a:off x="457200" y="6455664"/>
            <a:ext cx="11247120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secundária— AED-PG-2026          8/38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58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58"/>
          <p:cNvSpPr txBox="1"/>
          <p:nvPr/>
        </p:nvSpPr>
        <p:spPr>
          <a:xfrm>
            <a:off x="457200" y="331"/>
            <a:ext cx="11247120" cy="8771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3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Classe DiskManager — um nó por I/O</a:t>
            </a:r>
            <a:endParaRPr b="1" i="0" sz="23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58"/>
          <p:cNvSpPr txBox="1"/>
          <p:nvPr/>
        </p:nvSpPr>
        <p:spPr>
          <a:xfrm>
            <a:off x="640081" y="1250601"/>
            <a:ext cx="10109436" cy="455509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Toda I/O passa pelo </a:t>
            </a:r>
            <a:r>
              <a:rPr b="1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DiskManager</a:t>
            </a:r>
            <a:endParaRPr b="0" i="0" sz="20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Sempre que a análise de um nó é necessária  é feita uma leitura (</a:t>
            </a:r>
            <a:r>
              <a:rPr b="1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readNode</a:t>
            </a: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), se houver alteração nele, a  escrita é realizada (</a:t>
            </a:r>
            <a:r>
              <a:rPr b="1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writeNode</a:t>
            </a: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).</a:t>
            </a:r>
            <a:endParaRPr b="0" i="0" sz="20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readNote / writeNode = 1 registro de PAGE_SIZE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Nessa classe reside o contador de acessos (métrica central).</a:t>
            </a:r>
            <a:endParaRPr b="0" i="0" sz="20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A árvore nunca é totalmente carregada na RAM</a:t>
            </a: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Resumo</a:t>
            </a: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: Árvore funciona como um índice em disco. O cabeçalho aponta para a raiz, os nós são endereçados pelo RRN; cada página corresponde a um I/O e toda a persistência é centralizada na classe DiskManager.</a:t>
            </a:r>
            <a:endParaRPr b="0" i="0" sz="20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58"/>
          <p:cNvSpPr txBox="1"/>
          <p:nvPr/>
        </p:nvSpPr>
        <p:spPr>
          <a:xfrm>
            <a:off x="457200" y="6455664"/>
            <a:ext cx="11247120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secundária— AED-PG-2026          9/38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59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59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Métodos — visão geral</a:t>
            </a:r>
            <a:endParaRPr/>
          </a:p>
        </p:txBody>
      </p:sp>
      <p:sp>
        <p:nvSpPr>
          <p:cNvPr id="180" name="Google Shape;180;p59"/>
          <p:cNvSpPr txBox="1"/>
          <p:nvPr/>
        </p:nvSpPr>
        <p:spPr>
          <a:xfrm>
            <a:off x="640080" y="2810768"/>
            <a:ext cx="10972800" cy="17851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Busca m-vias (</a:t>
            </a:r>
            <a:r>
              <a:rPr b="1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mSearch</a:t>
            </a: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Inserção: Abordagem bottom-up com split (i</a:t>
            </a:r>
            <a:r>
              <a:rPr b="1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nsertB</a:t>
            </a: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Remoção: sucessor, redistribuição e fusão </a:t>
            </a:r>
            <a:r>
              <a:rPr b="1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(deleteB</a:t>
            </a: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Monitoramento: </a:t>
            </a:r>
            <a:r>
              <a:rPr b="1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printTree</a:t>
            </a: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 · </a:t>
            </a:r>
            <a:r>
              <a:rPr b="1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height</a:t>
            </a: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· exportDot</a:t>
            </a:r>
            <a:endParaRPr/>
          </a:p>
        </p:txBody>
      </p:sp>
      <p:sp>
        <p:nvSpPr>
          <p:cNvPr id="181" name="Google Shape;181;p59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 — AED-PG-2026          10/38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6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60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Busca m-way</a:t>
            </a:r>
            <a:endParaRPr/>
          </a:p>
        </p:txBody>
      </p:sp>
      <p:sp>
        <p:nvSpPr>
          <p:cNvPr id="188" name="Google Shape;188;p60"/>
          <p:cNvSpPr txBox="1"/>
          <p:nvPr/>
        </p:nvSpPr>
        <p:spPr>
          <a:xfrm>
            <a:off x="116957" y="1588083"/>
            <a:ext cx="7453424" cy="103618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Chaves dividem o universo em faixas</a:t>
            </a:r>
            <a:endParaRPr b="0" i="0" sz="16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b="1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Nível lógico</a:t>
            </a: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: Desce pelo ponteiro da faixa certa </a:t>
            </a:r>
            <a:endParaRPr b="0" i="0" sz="16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Custo ≈ altura da árvore</a:t>
            </a:r>
            <a:endParaRPr b="0" i="0" sz="16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m3_final.png" id="189" name="Google Shape;189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5139" y="1329020"/>
            <a:ext cx="7928916" cy="4477131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60"/>
          <p:cNvSpPr txBox="1"/>
          <p:nvPr/>
        </p:nvSpPr>
        <p:spPr>
          <a:xfrm>
            <a:off x="6126480" y="5989320"/>
            <a:ext cx="5577840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 busca segue um caminho da raiz à folha</a:t>
            </a:r>
            <a:endParaRPr b="0" i="0" sz="9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60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 — AED-PG-2026          11/38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6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61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Inserção e split</a:t>
            </a:r>
            <a:endParaRPr/>
          </a:p>
        </p:txBody>
      </p:sp>
      <p:sp>
        <p:nvSpPr>
          <p:cNvPr id="198" name="Google Shape;198;p61"/>
          <p:cNvSpPr txBox="1"/>
          <p:nvPr/>
        </p:nvSpPr>
        <p:spPr>
          <a:xfrm>
            <a:off x="640080" y="2810768"/>
            <a:ext cx="10972800" cy="17851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Bottom-up: acha a folha, insere em ordem</a:t>
            </a:r>
            <a:endParaRPr b="0" i="0" sz="20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Estourou (&gt; m-1 chaves)? → split</a:t>
            </a:r>
            <a:endParaRPr b="0" i="0" sz="20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Regra de split é acionada de acordo com o m (ex: mediana sobe ao pai); pode propagar e criar raiz.</a:t>
            </a:r>
            <a:endParaRPr b="0" i="0" sz="20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É o que mantém a árvore balanceada</a:t>
            </a:r>
            <a:endParaRPr b="0" i="0" sz="20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61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 — AED-PG-2026          12/38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6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6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Remoção — sucessor, redistribuição e fusão</a:t>
            </a:r>
            <a:endParaRPr/>
          </a:p>
        </p:txBody>
      </p:sp>
      <p:sp>
        <p:nvSpPr>
          <p:cNvPr id="206" name="Google Shape;206;p62"/>
          <p:cNvSpPr txBox="1"/>
          <p:nvPr/>
        </p:nvSpPr>
        <p:spPr>
          <a:xfrm>
            <a:off x="640080" y="2810768"/>
            <a:ext cx="10972800" cy="17851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Nó interno: troca pelo sucessor em order.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Folha pode ficar em underflow.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Redistribuição: empresta de um irmão.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Fusão: funde com irmão + chave do pai.</a:t>
            </a:r>
            <a:endParaRPr/>
          </a:p>
        </p:txBody>
      </p:sp>
      <p:sp>
        <p:nvSpPr>
          <p:cNvPr id="207" name="Google Shape;207;p62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 — AED-PG-2026          13/38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6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63"/>
          <p:cNvSpPr txBox="1"/>
          <p:nvPr/>
        </p:nvSpPr>
        <p:spPr>
          <a:xfrm>
            <a:off x="457200" y="215774"/>
            <a:ext cx="11247120" cy="4462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Reaproveitamento – Free List</a:t>
            </a:r>
            <a:endParaRPr b="1" i="0" sz="23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63"/>
          <p:cNvSpPr txBox="1"/>
          <p:nvPr/>
        </p:nvSpPr>
        <p:spPr>
          <a:xfrm>
            <a:off x="640080" y="2810768"/>
            <a:ext cx="10972800" cy="17851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Remoção libera nó → vira nó LIVRE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freeNode</a:t>
            </a: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 encadeia na lista (free_head no header)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allocNode</a:t>
            </a: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 reusa antes de crescer o arquivo</a:t>
            </a:r>
            <a:endParaRPr b="0" i="0" sz="2000" u="none" cap="none" strike="noStrike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Ligável (</a:t>
            </a:r>
            <a:r>
              <a:rPr b="1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setReuse</a:t>
            </a:r>
            <a:r>
              <a:rPr b="0" i="0" lang="pt-BR" sz="2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) —medido no churn</a:t>
            </a:r>
            <a:endParaRPr/>
          </a:p>
        </p:txBody>
      </p:sp>
      <p:sp>
        <p:nvSpPr>
          <p:cNvPr id="215" name="Google Shape;215;p63"/>
          <p:cNvSpPr txBox="1"/>
          <p:nvPr/>
        </p:nvSpPr>
        <p:spPr>
          <a:xfrm>
            <a:off x="457200" y="6455664"/>
            <a:ext cx="11247120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 — AED-PG-2026          14/38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6"/>
          <p:cNvSpPr/>
          <p:nvPr/>
        </p:nvSpPr>
        <p:spPr>
          <a:xfrm>
            <a:off x="0" y="0"/>
            <a:ext cx="12191700" cy="86880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6"/>
          <p:cNvSpPr txBox="1"/>
          <p:nvPr/>
        </p:nvSpPr>
        <p:spPr>
          <a:xfrm>
            <a:off x="457200" y="109728"/>
            <a:ext cx="112470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Resumo — o que o código faz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2" name="Google Shape;222;p16"/>
          <p:cNvGrpSpPr/>
          <p:nvPr/>
        </p:nvGrpSpPr>
        <p:grpSpPr>
          <a:xfrm>
            <a:off x="457200" y="1333500"/>
            <a:ext cx="5429400" cy="4572000"/>
            <a:chOff x="0" y="0"/>
            <a:chExt cx="5429400" cy="4572000"/>
          </a:xfrm>
        </p:grpSpPr>
        <p:sp>
          <p:nvSpPr>
            <p:cNvPr id="223" name="Google Shape;223;p16"/>
            <p:cNvSpPr/>
            <p:nvPr/>
          </p:nvSpPr>
          <p:spPr>
            <a:xfrm>
              <a:off x="0" y="0"/>
              <a:ext cx="5429400" cy="4572000"/>
            </a:xfrm>
            <a:prstGeom prst="roundRect">
              <a:avLst>
                <a:gd fmla="val 2500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" name="Google Shape;224;p16"/>
            <p:cNvSpPr txBox="1"/>
            <p:nvPr/>
          </p:nvSpPr>
          <p:spPr>
            <a:xfrm>
              <a:off x="0" y="0"/>
              <a:ext cx="5429400" cy="457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20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Núcleo — Árvore B em disco</a:t>
              </a:r>
              <a:endParaRPr b="1" sz="20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30200" lvl="0" marL="457200" rtl="0" algn="l">
                <a:spcBef>
                  <a:spcPts val="1500"/>
                </a:spcBef>
                <a:spcAft>
                  <a:spcPts val="0"/>
                </a:spcAft>
                <a:buClr>
                  <a:srgbClr val="111827"/>
                </a:buClr>
                <a:buSzPts val="1600"/>
                <a:buFont typeface="Calibri"/>
                <a:buChar char="●"/>
              </a:pPr>
              <a:r>
                <a:rPr b="1"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Ordem m parametrizável:</a:t>
              </a:r>
              <a:r>
                <a:rPr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 M definido em tempo de compilação.</a:t>
              </a:r>
              <a:endParaRPr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3020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111827"/>
                </a:buClr>
                <a:buSzPts val="1600"/>
                <a:buFont typeface="Calibri"/>
                <a:buChar char="●"/>
              </a:pPr>
              <a:r>
                <a:rPr b="1"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100% em disco:</a:t>
              </a:r>
              <a:r>
                <a:rPr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 Acesso otimizado com 1 nó por operação de I/O.</a:t>
              </a:r>
              <a:endParaRPr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3020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111827"/>
                </a:buClr>
                <a:buSzPts val="1600"/>
                <a:buFont typeface="Calibri"/>
                <a:buChar char="●"/>
              </a:pPr>
              <a:r>
                <a:rPr b="1"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Operações CRUD:</a:t>
              </a:r>
              <a:r>
                <a:rPr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 Implementação completa de busca, inserção (split) e remoção (merge).</a:t>
              </a:r>
              <a:endParaRPr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3020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111827"/>
                </a:buClr>
                <a:buSzPts val="1600"/>
                <a:buFont typeface="Calibri"/>
                <a:buChar char="●"/>
              </a:pPr>
              <a:r>
                <a:rPr b="1"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Persistência:</a:t>
              </a:r>
              <a:r>
                <a:rPr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 Gerenciamento via RRN e cabeçalho (header).</a:t>
              </a:r>
              <a:endParaRPr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5" name="Google Shape;225;p16"/>
          <p:cNvGrpSpPr/>
          <p:nvPr/>
        </p:nvGrpSpPr>
        <p:grpSpPr>
          <a:xfrm>
            <a:off x="6305550" y="1333500"/>
            <a:ext cx="5429400" cy="4572000"/>
            <a:chOff x="0" y="0"/>
            <a:chExt cx="5429400" cy="4572000"/>
          </a:xfrm>
        </p:grpSpPr>
        <p:sp>
          <p:nvSpPr>
            <p:cNvPr id="226" name="Google Shape;226;p16"/>
            <p:cNvSpPr/>
            <p:nvPr/>
          </p:nvSpPr>
          <p:spPr>
            <a:xfrm>
              <a:off x="0" y="0"/>
              <a:ext cx="5429400" cy="4572000"/>
            </a:xfrm>
            <a:prstGeom prst="roundRect">
              <a:avLst>
                <a:gd fmla="val 2500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" name="Google Shape;227;p16"/>
            <p:cNvSpPr txBox="1"/>
            <p:nvPr/>
          </p:nvSpPr>
          <p:spPr>
            <a:xfrm>
              <a:off x="0" y="0"/>
              <a:ext cx="5429400" cy="457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20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Extras</a:t>
              </a:r>
              <a:endParaRPr b="1" sz="20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30200" lvl="0" marL="457200" rtl="0" algn="l">
                <a:spcBef>
                  <a:spcPts val="1500"/>
                </a:spcBef>
                <a:spcAft>
                  <a:spcPts val="0"/>
                </a:spcAft>
                <a:buClr>
                  <a:srgbClr val="111827"/>
                </a:buClr>
                <a:buSzPts val="1600"/>
                <a:buFont typeface="Calibri"/>
                <a:buChar char="●"/>
              </a:pPr>
              <a:r>
                <a:rPr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Contador de acessos ao disco para análise de performance.</a:t>
              </a:r>
              <a:endParaRPr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3020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111827"/>
                </a:buClr>
                <a:buSzPts val="1600"/>
                <a:buFont typeface="Calibri"/>
                <a:buChar char="●"/>
              </a:pPr>
              <a:r>
                <a:rPr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Free list ligável (setReuse) para reaproveitamento de espaço.</a:t>
              </a:r>
              <a:endParaRPr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3020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111827"/>
                </a:buClr>
                <a:buSzPts val="1600"/>
                <a:buFont typeface="Calibri"/>
                <a:buChar char="●"/>
              </a:pPr>
              <a:r>
                <a:rPr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Utilitários: printTree, cálculo de altura e exportDot (Graphviz).</a:t>
              </a:r>
              <a:endParaRPr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3020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111827"/>
                </a:buClr>
                <a:buSzPts val="1600"/>
                <a:buFont typeface="Calibri"/>
                <a:buChar char="●"/>
              </a:pPr>
              <a:r>
                <a:rPr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Pipeline de Benchmark: Automação via CSV (run_all, make_tables).</a:t>
              </a:r>
              <a:endParaRPr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3020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111827"/>
                </a:buClr>
                <a:buSzPts val="1600"/>
                <a:buFont typeface="Calibri"/>
                <a:buChar char="●"/>
              </a:pPr>
              <a:r>
                <a:rPr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Comparação Titan (USP) x Intel i7</a:t>
              </a:r>
              <a:endParaRPr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3020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111827"/>
                </a:buClr>
                <a:buSzPts val="1600"/>
                <a:buFont typeface="Calibri"/>
                <a:buChar char="●"/>
              </a:pPr>
              <a:r>
                <a:rPr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Comparação com sortedArray</a:t>
              </a:r>
              <a:endParaRPr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8" name="Google Shape;228;p16"/>
          <p:cNvSpPr txBox="1"/>
          <p:nvPr/>
        </p:nvSpPr>
        <p:spPr>
          <a:xfrm>
            <a:off x="457200" y="6455664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secundária— AED-PG-2026          15/38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4"/>
          <p:cNvSpPr/>
          <p:nvPr/>
        </p:nvSpPr>
        <p:spPr>
          <a:xfrm>
            <a:off x="0" y="0"/>
            <a:ext cx="12191700" cy="86880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34"/>
          <p:cNvSpPr txBox="1"/>
          <p:nvPr/>
        </p:nvSpPr>
        <p:spPr>
          <a:xfrm>
            <a:off x="457200" y="109728"/>
            <a:ext cx="112470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Ferramentas utilizadas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35" name="Google Shape;235;p34"/>
          <p:cNvGrpSpPr/>
          <p:nvPr/>
        </p:nvGrpSpPr>
        <p:grpSpPr>
          <a:xfrm>
            <a:off x="457200" y="1333500"/>
            <a:ext cx="11277600" cy="4572000"/>
            <a:chOff x="457200" y="1333500"/>
            <a:chExt cx="11277600" cy="4572000"/>
          </a:xfrm>
        </p:grpSpPr>
        <p:sp>
          <p:nvSpPr>
            <p:cNvPr id="236" name="Google Shape;236;p34"/>
            <p:cNvSpPr/>
            <p:nvPr/>
          </p:nvSpPr>
          <p:spPr>
            <a:xfrm>
              <a:off x="457200" y="1333500"/>
              <a:ext cx="3429000" cy="2095500"/>
            </a:xfrm>
            <a:prstGeom prst="roundRect">
              <a:avLst>
                <a:gd fmla="val 3636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" name="Google Shape;237;p34"/>
            <p:cNvSpPr/>
            <p:nvPr/>
          </p:nvSpPr>
          <p:spPr>
            <a:xfrm>
              <a:off x="4381500" y="1333500"/>
              <a:ext cx="3429000" cy="2095500"/>
            </a:xfrm>
            <a:prstGeom prst="roundRect">
              <a:avLst>
                <a:gd fmla="val 3636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" name="Google Shape;238;p34"/>
            <p:cNvSpPr/>
            <p:nvPr/>
          </p:nvSpPr>
          <p:spPr>
            <a:xfrm>
              <a:off x="8305800" y="1333500"/>
              <a:ext cx="3429000" cy="2095500"/>
            </a:xfrm>
            <a:prstGeom prst="roundRect">
              <a:avLst>
                <a:gd fmla="val 3636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" name="Google Shape;239;p34"/>
            <p:cNvSpPr/>
            <p:nvPr/>
          </p:nvSpPr>
          <p:spPr>
            <a:xfrm>
              <a:off x="457200" y="3810000"/>
              <a:ext cx="3429000" cy="2095500"/>
            </a:xfrm>
            <a:prstGeom prst="roundRect">
              <a:avLst>
                <a:gd fmla="val 3636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" name="Google Shape;240;p34"/>
            <p:cNvSpPr/>
            <p:nvPr/>
          </p:nvSpPr>
          <p:spPr>
            <a:xfrm>
              <a:off x="4381500" y="3810000"/>
              <a:ext cx="3429000" cy="2095500"/>
            </a:xfrm>
            <a:prstGeom prst="roundRect">
              <a:avLst>
                <a:gd fmla="val 3636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" name="Google Shape;241;p34"/>
            <p:cNvSpPr/>
            <p:nvPr/>
          </p:nvSpPr>
          <p:spPr>
            <a:xfrm>
              <a:off x="8305800" y="3810000"/>
              <a:ext cx="3429000" cy="2095500"/>
            </a:xfrm>
            <a:prstGeom prst="roundRect">
              <a:avLst>
                <a:gd fmla="val 3636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42" name="Google Shape;242;p34"/>
          <p:cNvSpPr txBox="1"/>
          <p:nvPr/>
        </p:nvSpPr>
        <p:spPr>
          <a:xfrm>
            <a:off x="457200" y="6455664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 — AED-PG-2026          16/38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43" name="Google Shape;243;p34"/>
          <p:cNvGrpSpPr/>
          <p:nvPr/>
        </p:nvGrpSpPr>
        <p:grpSpPr>
          <a:xfrm>
            <a:off x="552450" y="1428750"/>
            <a:ext cx="11087100" cy="4381500"/>
            <a:chOff x="552450" y="1428750"/>
            <a:chExt cx="11087100" cy="4381500"/>
          </a:xfrm>
        </p:grpSpPr>
        <p:sp>
          <p:nvSpPr>
            <p:cNvPr id="244" name="Google Shape;244;p34"/>
            <p:cNvSpPr txBox="1"/>
            <p:nvPr/>
          </p:nvSpPr>
          <p:spPr>
            <a:xfrm>
              <a:off x="552450" y="1428750"/>
              <a:ext cx="32385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6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Desenvolvimento</a:t>
              </a:r>
              <a:endParaRPr b="1" sz="16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pt-BR" sz="13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Linguagem: </a:t>
              </a:r>
              <a:r>
                <a:rPr b="0" lang="pt-BR" sz="13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C++17</a:t>
              </a:r>
              <a:endParaRPr b="1" sz="13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b="1" lang="pt-BR" sz="13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Compilador: </a:t>
              </a:r>
              <a:r>
                <a:rPr b="0" lang="pt-BR" sz="13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g++ -O2</a:t>
              </a:r>
              <a:endParaRPr b="1" sz="13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b="1" lang="pt-BR" sz="13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Automação: </a:t>
              </a:r>
              <a:r>
                <a:rPr b="0" lang="pt-BR" sz="13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GNU Make (Pré-processamento, Compilador, Assembler, Linker e Executável)</a:t>
              </a:r>
              <a:endParaRPr b="1" sz="13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34"/>
            <p:cNvSpPr txBox="1"/>
            <p:nvPr/>
          </p:nvSpPr>
          <p:spPr>
            <a:xfrm>
              <a:off x="4476750" y="1428750"/>
              <a:ext cx="32385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6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Entrada/Saída</a:t>
              </a:r>
              <a:endParaRPr b="1" sz="16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pt-BR" sz="13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Biblioteca: </a:t>
              </a:r>
              <a:r>
                <a:rPr b="0" lang="pt-BR" sz="13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std::fstream</a:t>
              </a:r>
              <a:endParaRPr b="1" sz="13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pt-BR" sz="1100">
                  <a:solidFill>
                    <a:srgbClr val="6B7280"/>
                  </a:solidFill>
                  <a:latin typeface="Calibri"/>
                  <a:ea typeface="Calibri"/>
                  <a:cs typeface="Calibri"/>
                  <a:sym typeface="Calibri"/>
                </a:rPr>
                <a:t>Manipulação direta de arquivos em disco para persistência da Árvore B.</a:t>
              </a:r>
              <a:endParaRPr sz="11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34"/>
            <p:cNvSpPr txBox="1"/>
            <p:nvPr/>
          </p:nvSpPr>
          <p:spPr>
            <a:xfrm>
              <a:off x="8401050" y="1428750"/>
              <a:ext cx="32385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6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Visualização</a:t>
              </a:r>
              <a:endParaRPr b="1" sz="16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pt-BR" sz="13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Graphviz (grafos)</a:t>
              </a:r>
              <a:endParaRPr b="1" sz="13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pt-BR" sz="1100">
                  <a:solidFill>
                    <a:srgbClr val="6B7280"/>
                  </a:solidFill>
                  <a:latin typeface="Calibri"/>
                  <a:ea typeface="Calibri"/>
                  <a:cs typeface="Calibri"/>
                  <a:sym typeface="Calibri"/>
                </a:rPr>
                <a:t>Exportação de arquivos .dot para visualização estrutural dos nós.</a:t>
              </a:r>
              <a:endParaRPr sz="11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7" name="Google Shape;247;p34"/>
            <p:cNvSpPr txBox="1"/>
            <p:nvPr/>
          </p:nvSpPr>
          <p:spPr>
            <a:xfrm>
              <a:off x="552450" y="3905250"/>
              <a:ext cx="32385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6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Análise de Dados</a:t>
              </a:r>
              <a:endParaRPr b="1" sz="16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pt-BR" sz="13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Python + matplotlib</a:t>
              </a:r>
              <a:endParaRPr b="1" sz="13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pt-BR" sz="1100">
                  <a:solidFill>
                    <a:srgbClr val="6B7280"/>
                  </a:solidFill>
                  <a:latin typeface="Calibri"/>
                  <a:ea typeface="Calibri"/>
                  <a:cs typeface="Calibri"/>
                  <a:sym typeface="Calibri"/>
                </a:rPr>
                <a:t>Processamento de CSVs e geração de gráficos de desempenho.</a:t>
              </a:r>
              <a:endParaRPr sz="11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34"/>
            <p:cNvSpPr txBox="1"/>
            <p:nvPr/>
          </p:nvSpPr>
          <p:spPr>
            <a:xfrm>
              <a:off x="4476750" y="3905250"/>
              <a:ext cx="32385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6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IA Assistente</a:t>
              </a:r>
              <a:endParaRPr b="1" sz="16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pt-BR" sz="13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Claude Code - Opus 4.8</a:t>
              </a:r>
              <a:endParaRPr b="1" sz="13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pt-BR" sz="1100">
                  <a:solidFill>
                    <a:srgbClr val="6B7280"/>
                  </a:solidFill>
                  <a:latin typeface="Calibri"/>
                  <a:ea typeface="Calibri"/>
                  <a:cs typeface="Calibri"/>
                  <a:sym typeface="Calibri"/>
                </a:rPr>
                <a:t>Auxílio na refatoração, documentação e depuração do código.</a:t>
              </a:r>
              <a:endParaRPr sz="11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9" name="Google Shape;249;p34"/>
            <p:cNvSpPr txBox="1"/>
            <p:nvPr/>
          </p:nvSpPr>
          <p:spPr>
            <a:xfrm>
              <a:off x="8401050" y="3905250"/>
              <a:ext cx="32385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4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Implementação &amp; Experimentos</a:t>
              </a:r>
              <a:endParaRPr b="1" sz="14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7"/>
          <p:cNvSpPr/>
          <p:nvPr/>
        </p:nvSpPr>
        <p:spPr>
          <a:xfrm>
            <a:off x="0" y="0"/>
            <a:ext cx="12191700" cy="86880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7"/>
          <p:cNvSpPr txBox="1"/>
          <p:nvPr/>
        </p:nvSpPr>
        <p:spPr>
          <a:xfrm>
            <a:off x="457200" y="109728"/>
            <a:ext cx="112470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Demonstração — o programa rodando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6" name="Google Shape;256;p17"/>
          <p:cNvGrpSpPr/>
          <p:nvPr/>
        </p:nvGrpSpPr>
        <p:grpSpPr>
          <a:xfrm>
            <a:off x="457200" y="1333500"/>
            <a:ext cx="3619500" cy="4572000"/>
            <a:chOff x="457200" y="1333500"/>
            <a:chExt cx="3619500" cy="4572000"/>
          </a:xfrm>
        </p:grpSpPr>
        <p:sp>
          <p:nvSpPr>
            <p:cNvPr id="257" name="Google Shape;257;p17"/>
            <p:cNvSpPr/>
            <p:nvPr/>
          </p:nvSpPr>
          <p:spPr>
            <a:xfrm>
              <a:off x="457200" y="1333500"/>
              <a:ext cx="3619500" cy="4572000"/>
            </a:xfrm>
            <a:prstGeom prst="roundRect">
              <a:avLst>
                <a:gd fmla="val 3157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" name="Google Shape;258;p17"/>
            <p:cNvSpPr txBox="1"/>
            <p:nvPr/>
          </p:nvSpPr>
          <p:spPr>
            <a:xfrm>
              <a:off x="457200" y="1333500"/>
              <a:ext cx="3619500" cy="457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20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Etapas</a:t>
              </a:r>
              <a:endParaRPr b="1" sz="20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30200" lvl="0" marL="457200" rtl="0" algn="l">
                <a:spcBef>
                  <a:spcPts val="1500"/>
                </a:spcBef>
                <a:spcAft>
                  <a:spcPts val="0"/>
                </a:spcAft>
                <a:buClr>
                  <a:srgbClr val="111827"/>
                </a:buClr>
                <a:buSzPts val="1600"/>
                <a:buFont typeface="Calibri"/>
                <a:buChar char="●"/>
              </a:pPr>
              <a:r>
                <a:rPr b="1"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Compilação:</a:t>
              </a:r>
              <a:r>
                <a:rPr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 Fluxo completo do menu até CRUD e métricas.</a:t>
              </a:r>
              <a:endParaRPr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3020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111827"/>
                </a:buClr>
                <a:buSzPts val="1600"/>
                <a:buFont typeface="Calibri"/>
                <a:buChar char="●"/>
              </a:pPr>
              <a:r>
                <a:rPr b="1"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Parametrização:</a:t>
              </a:r>
              <a:r>
                <a:rPr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 Testes com m=3 e m=5 para observar a profundidade da árvore.</a:t>
              </a:r>
              <a:endParaRPr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3020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111827"/>
                </a:buClr>
                <a:buSzPts val="1600"/>
                <a:buFont typeface="Calibri"/>
                <a:buChar char="●"/>
              </a:pPr>
              <a:r>
                <a:rPr b="1"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Execução:</a:t>
              </a:r>
              <a:r>
                <a:rPr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 Captura real do comportamento dinâmico.</a:t>
              </a:r>
              <a:endParaRPr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i="1" lang="pt-BR" sz="1100">
                  <a:solidFill>
                    <a:srgbClr val="4B5563"/>
                  </a:solidFill>
                  <a:highlight>
                    <a:srgbClr val="E5E7EB"/>
                  </a:highlight>
                  <a:latin typeface="Calibri"/>
                  <a:ea typeface="Calibri"/>
                  <a:cs typeface="Calibri"/>
                  <a:sym typeface="Calibri"/>
                </a:rPr>
                <a:t>Fluxo: make M=3/5 → menu → exportação de grafo</a:t>
              </a:r>
              <a:endParaRPr i="1" sz="1100">
                <a:solidFill>
                  <a:srgbClr val="4B5563"/>
                </a:solidFill>
                <a:highlight>
                  <a:srgbClr val="E5E7EB"/>
                </a:highlight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9" name="Google Shape;259;p17"/>
          <p:cNvGrpSpPr/>
          <p:nvPr/>
        </p:nvGrpSpPr>
        <p:grpSpPr>
          <a:xfrm>
            <a:off x="4362450" y="1333500"/>
            <a:ext cx="7372500" cy="4572000"/>
            <a:chOff x="0" y="0"/>
            <a:chExt cx="7372500" cy="4572000"/>
          </a:xfrm>
        </p:grpSpPr>
        <p:sp>
          <p:nvSpPr>
            <p:cNvPr id="260" name="Google Shape;260;p17"/>
            <p:cNvSpPr/>
            <p:nvPr/>
          </p:nvSpPr>
          <p:spPr>
            <a:xfrm>
              <a:off x="0" y="0"/>
              <a:ext cx="7372500" cy="4572000"/>
            </a:xfrm>
            <a:prstGeom prst="roundRect">
              <a:avLst>
                <a:gd fmla="val 2500" name="adj"/>
              </a:avLst>
            </a:prstGeom>
            <a:solidFill>
              <a:srgbClr val="11182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61" name="Google Shape;261;p17"/>
            <p:cNvPicPr preferRelativeResize="0"/>
            <p:nvPr/>
          </p:nvPicPr>
          <p:blipFill rotWithShape="1">
            <a:blip r:embed="rId3">
              <a:alphaModFix/>
            </a:blip>
            <a:srcRect b="1134" l="0" r="0" t="1143"/>
            <a:stretch/>
          </p:blipFill>
          <p:spPr>
            <a:xfrm>
              <a:off x="0" y="0"/>
              <a:ext cx="7372500" cy="4572000"/>
            </a:xfrm>
            <a:prstGeom prst="roundRect">
              <a:avLst>
                <a:gd fmla="val 2500" name="adj"/>
              </a:avLst>
            </a:prstGeom>
            <a:noFill/>
            <a:ln>
              <a:noFill/>
            </a:ln>
          </p:spPr>
        </p:pic>
        <p:pic>
          <p:nvPicPr>
            <p:cNvPr id="262" name="Google Shape;262;p1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0" y="0"/>
              <a:ext cx="7372500" cy="2859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63" name="Google Shape;263;p17"/>
            <p:cNvSpPr/>
            <p:nvPr/>
          </p:nvSpPr>
          <p:spPr>
            <a:xfrm>
              <a:off x="95250" y="95250"/>
              <a:ext cx="95400" cy="95400"/>
            </a:xfrm>
            <a:prstGeom prst="ellipse">
              <a:avLst/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" name="Google Shape;264;p17"/>
            <p:cNvSpPr/>
            <p:nvPr/>
          </p:nvSpPr>
          <p:spPr>
            <a:xfrm>
              <a:off x="285750" y="95250"/>
              <a:ext cx="95400" cy="9540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" name="Google Shape;265;p17"/>
            <p:cNvSpPr/>
            <p:nvPr/>
          </p:nvSpPr>
          <p:spPr>
            <a:xfrm>
              <a:off x="476250" y="95250"/>
              <a:ext cx="95400" cy="9540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" name="Google Shape;266;p17"/>
            <p:cNvSpPr txBox="1"/>
            <p:nvPr/>
          </p:nvSpPr>
          <p:spPr>
            <a:xfrm>
              <a:off x="0" y="0"/>
              <a:ext cx="7372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000">
                  <a:solidFill>
                    <a:srgbClr val="9CA3A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demo_btree.gif — terminal</a:t>
              </a:r>
              <a:endParaRPr sz="10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sp>
        <p:nvSpPr>
          <p:cNvPr id="267" name="Google Shape;267;p17"/>
          <p:cNvSpPr txBox="1"/>
          <p:nvPr/>
        </p:nvSpPr>
        <p:spPr>
          <a:xfrm>
            <a:off x="457200" y="6455664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 — AED-PG-2026          17/38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"/>
          <p:cNvSpPr/>
          <p:nvPr/>
        </p:nvSpPr>
        <p:spPr>
          <a:xfrm>
            <a:off x="0" y="0"/>
            <a:ext cx="12191700" cy="86880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73" name="Google Shape;273;p18"/>
          <p:cNvGrpSpPr/>
          <p:nvPr/>
        </p:nvGrpSpPr>
        <p:grpSpPr>
          <a:xfrm>
            <a:off x="457200" y="1333500"/>
            <a:ext cx="11277600" cy="4572000"/>
            <a:chOff x="457200" y="1333500"/>
            <a:chExt cx="11277600" cy="4572000"/>
          </a:xfrm>
        </p:grpSpPr>
        <p:sp>
          <p:nvSpPr>
            <p:cNvPr id="274" name="Google Shape;274;p18"/>
            <p:cNvSpPr/>
            <p:nvPr/>
          </p:nvSpPr>
          <p:spPr>
            <a:xfrm>
              <a:off x="457200" y="1333500"/>
              <a:ext cx="11277600" cy="4572000"/>
            </a:xfrm>
            <a:prstGeom prst="roundRect">
              <a:avLst>
                <a:gd fmla="val 2500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" name="Google Shape;275;p18"/>
            <p:cNvSpPr txBox="1"/>
            <p:nvPr/>
          </p:nvSpPr>
          <p:spPr>
            <a:xfrm>
              <a:off x="838200" y="1714500"/>
              <a:ext cx="4381500" cy="3810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24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Matriz de Experimentos</a:t>
              </a:r>
              <a:endParaRPr b="1" sz="24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875"/>
                </a:spcBef>
                <a:spcAft>
                  <a:spcPts val="0"/>
                </a:spcAft>
                <a:buNone/>
              </a:pPr>
              <a:r>
                <a:rPr b="1" lang="pt-BR" sz="16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•</a:t>
              </a:r>
              <a:r>
                <a:rPr b="0"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b="1"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Exp.1:</a:t>
              </a:r>
              <a:r>
                <a:rPr b="0"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 Impacto da ordem </a:t>
              </a:r>
              <a:r>
                <a:rPr b="0" i="1"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m</a:t>
              </a:r>
              <a:r>
                <a:rPr b="0"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 (N=10⁵)</a:t>
              </a:r>
              <a:endParaRPr b="0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350"/>
                </a:spcBef>
                <a:spcAft>
                  <a:spcPts val="0"/>
                </a:spcAft>
                <a:buNone/>
              </a:pPr>
              <a:r>
                <a:rPr b="1" lang="pt-BR" sz="16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•</a:t>
              </a:r>
              <a:r>
                <a:rPr b="0"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b="1"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Exp.2:</a:t>
              </a:r>
              <a:r>
                <a:rPr b="0"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 Escala N (10³–10⁶)</a:t>
              </a:r>
              <a:endParaRPr b="0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350"/>
                </a:spcBef>
                <a:spcAft>
                  <a:spcPts val="0"/>
                </a:spcAft>
                <a:buNone/>
              </a:pPr>
              <a:r>
                <a:rPr b="1" lang="pt-BR" sz="16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•</a:t>
              </a:r>
              <a:r>
                <a:rPr b="0"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b="1"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Exp.3:</a:t>
              </a:r>
              <a:r>
                <a:rPr b="0"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 Ocupação com/sem reuso</a:t>
              </a:r>
              <a:endParaRPr b="0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350"/>
                </a:spcBef>
                <a:spcAft>
                  <a:spcPts val="0"/>
                </a:spcAft>
                <a:buNone/>
              </a:pPr>
              <a:r>
                <a:rPr b="1" lang="pt-BR" sz="16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•</a:t>
              </a:r>
              <a:r>
                <a:rPr b="0"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b="1"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Exp.4:</a:t>
              </a:r>
              <a:r>
                <a:rPr b="0" lang="pt-BR" sz="1600">
                  <a:solidFill>
                    <a:srgbClr val="111827"/>
                  </a:solidFill>
                  <a:latin typeface="Calibri"/>
                  <a:ea typeface="Calibri"/>
                  <a:cs typeface="Calibri"/>
                  <a:sym typeface="Calibri"/>
                </a:rPr>
                <a:t> CPU vs I/O</a:t>
              </a:r>
              <a:endParaRPr b="0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350"/>
                </a:spcBef>
                <a:spcAft>
                  <a:spcPts val="0"/>
                </a:spcAft>
                <a:buNone/>
              </a:pPr>
              <a:r>
                <a:rPr b="0" i="1" lang="pt-BR" sz="14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→</a:t>
              </a:r>
              <a:r>
                <a:rPr b="0" i="1" lang="pt-BR" sz="1400">
                  <a:solidFill>
                    <a:srgbClr val="4B5563"/>
                  </a:solidFill>
                  <a:latin typeface="Calibri"/>
                  <a:ea typeface="Calibri"/>
                  <a:cs typeface="Calibri"/>
                  <a:sym typeface="Calibri"/>
                </a:rPr>
                <a:t> Escalonamento: I/O por busca vs N (aleatório)</a:t>
              </a:r>
              <a:endParaRPr b="0" i="1" sz="1400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500"/>
                </a:spcBef>
                <a:spcAft>
                  <a:spcPts val="0"/>
                </a:spcAft>
                <a:buNone/>
              </a:pPr>
              <a:r>
                <a:rPr b="0" i="1" lang="pt-BR" sz="1200">
                  <a:solidFill>
                    <a:srgbClr val="6B7280"/>
                  </a:solidFill>
                  <a:latin typeface="Calibri"/>
                  <a:ea typeface="Calibri"/>
                  <a:cs typeface="Calibri"/>
                  <a:sym typeface="Calibri"/>
                </a:rPr>
                <a:t>(Validação em 2 máquinas distintas)</a:t>
              </a:r>
              <a:endParaRPr b="0" i="1" sz="12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76" name="Google Shape;276;p18"/>
            <p:cNvPicPr preferRelativeResize="0"/>
            <p:nvPr/>
          </p:nvPicPr>
          <p:blipFill rotWithShape="1">
            <a:blip r:embed="rId3">
              <a:alphaModFix/>
            </a:blip>
            <a:srcRect b="0" l="60" r="60" t="0"/>
            <a:stretch/>
          </p:blipFill>
          <p:spPr>
            <a:xfrm>
              <a:off x="5905500" y="2133600"/>
              <a:ext cx="5334000" cy="29718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77" name="Google Shape;277;p18"/>
          <p:cNvSpPr txBox="1"/>
          <p:nvPr/>
        </p:nvSpPr>
        <p:spPr>
          <a:xfrm>
            <a:off x="457200" y="109728"/>
            <a:ext cx="11247000" cy="431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91425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Os experimentos — a matriz de testes</a:t>
            </a:r>
            <a:endParaRPr b="1" i="0" sz="2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8"/>
          <p:cNvSpPr txBox="1"/>
          <p:nvPr/>
        </p:nvSpPr>
        <p:spPr>
          <a:xfrm>
            <a:off x="457200" y="6455664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 — AED-PG-2026          18/38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1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Impacto da ordem m — I/O por busca (N=10⁵)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85" name="Google Shape;285;p21"/>
          <p:cNvGraphicFramePr/>
          <p:nvPr/>
        </p:nvGraphicFramePr>
        <p:xfrm>
          <a:off x="365760" y="105156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{A3B23757-EC40-42A0-A68A-69D55510E7BF}</a:tableStyleId>
              </a:tblPr>
              <a:tblGrid>
                <a:gridCol w="899150"/>
                <a:gridCol w="899150"/>
                <a:gridCol w="899150"/>
                <a:gridCol w="899150"/>
                <a:gridCol w="899150"/>
                <a:gridCol w="899150"/>
              </a:tblGrid>
              <a:tr h="351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m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altura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busca I/O/op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inser. I/O/op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rem. I/O/op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arquivo (KB)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</a:tr>
              <a:tr h="351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14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13.25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16.90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19.67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2,040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51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4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11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10.48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13.51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16.76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1,829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</a:tr>
              <a:tr h="351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5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9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8.63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11.50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13.52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1,589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51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8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7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6.79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9.05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10.91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1,411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</a:tr>
              <a:tr h="351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16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5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4.90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7.00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8.16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1,251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51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32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4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3.95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5.95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6.77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1,189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</a:tr>
              <a:tr h="351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64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2.98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5.04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5.64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1,146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51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100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2.99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4.97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5.51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1,131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</a:tr>
              <a:tr h="351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128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2.99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4.92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5.41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1,121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51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256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2.99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4.57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5.00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1,088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</a:tr>
              <a:tr h="351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512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2.00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4.00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4.41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1,053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51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1000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2.00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3.99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4.34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1,016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pic>
        <p:nvPicPr>
          <p:cNvPr descr="chart_io_vs_m.png" id="286" name="Google Shape;28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89320" y="1280160"/>
            <a:ext cx="5943600" cy="3307457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p21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pt-BR" sz="11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I/O por busca cai de 13,25 (m=3, altura 14) para 2,00 (m≥512, altura 2). Ganho satura por volta de m≈64-128.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21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 — AED-PG-2026          21/38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2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3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Resultados por operação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2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Busca: a mais barata (raiz → folha)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Inserção: split reescreve nós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Remoção: a mais cara (redistribui / funde)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Todas caem com m e saturam juntas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hart_phase_io.png" id="296" name="Google Shape;296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55080" y="1371600"/>
            <a:ext cx="5577840" cy="3103921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23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 — AED-PG-2026          23/38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25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5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Reaproveitamento de nós (churn)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04" name="Google Shape;304;p25"/>
          <p:cNvGraphicFramePr/>
          <p:nvPr/>
        </p:nvGraphicFramePr>
        <p:xfrm>
          <a:off x="365760" y="105156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{A3B23757-EC40-42A0-A68A-69D55510E7BF}</a:tableStyleId>
              </a:tblPr>
              <a:tblGrid>
                <a:gridCol w="1079000"/>
                <a:gridCol w="1079000"/>
                <a:gridCol w="1079000"/>
                <a:gridCol w="1079000"/>
                <a:gridCol w="1079000"/>
              </a:tblGrid>
              <a:tr h="653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m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N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sem reuso (KB)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com reuso (KB)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economia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</a:tr>
              <a:tr h="6531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10,000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342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241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30%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6531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100,000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3,407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2,404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29%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</a:tr>
              <a:tr h="6531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5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10,000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266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190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29%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6531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5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100,000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2,663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1,905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28%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</a:tr>
              <a:tr h="6531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100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10,000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196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144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27%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6531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100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100,000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1,931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1,404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27%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pic>
        <p:nvPicPr>
          <p:cNvPr descr="chart_reuse.png" id="305" name="Google Shape;305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89320" y="1280160"/>
            <a:ext cx="5943600" cy="3307457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25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pt-BR" sz="11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O reaproveitamento economiza ~27-30% do tamanho do arquivo neste workload.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 — AED-PG-2026          26/38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65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65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As duas máquinas da avaliação</a:t>
            </a:r>
            <a:endParaRPr/>
          </a:p>
        </p:txBody>
      </p:sp>
      <p:graphicFrame>
        <p:nvGraphicFramePr>
          <p:cNvPr id="314" name="Google Shape;314;p65"/>
          <p:cNvGraphicFramePr/>
          <p:nvPr/>
        </p:nvGraphicFramePr>
        <p:xfrm>
          <a:off x="457200" y="109728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{F93A2A37-E859-4EAC-A324-26A2DBED01F2}</a:tableStyleId>
              </a:tblPr>
              <a:tblGrid>
                <a:gridCol w="2651750"/>
                <a:gridCol w="4069075"/>
                <a:gridCol w="4553700"/>
              </a:tblGrid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Item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Notebook (referência)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Titan — USP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7C3AB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CPU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Intel Core 7 240H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AMD Ryzen Threadripper PRO 5975WX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EDE9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Núcleos / threads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 núcleos / 16 threads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EFF4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 núcleos / 64 threads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F4F1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Cache (L1d·L2·L3)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384 KiB · 10 · 24 MiB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· 16 · 128 MiB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EDE9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Memória RAM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 GiB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EFF4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125 GiB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F4F1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Sistema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Ubuntu 24.04 — WSL2 (Windows)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Ubuntu 24.04 — bare-metal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EDE9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Kernel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6.6 (WSL2)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EFF4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6.17 (generic)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F4F1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Compilador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g++ 13.3.0 · C++17 -O2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g++ 13.3.0 · C++17 -O2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EDE9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Ferramentas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Make 4.3 · Graphviz 2.43 · Py 3.12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EFF4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Make 4.3 · Graphviz 2.43 · Py 3.12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F4F1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Disco do arquivo .bin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ext4 (disco virtual WSL2)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2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ext4 (SSD NVMe, bare-metal)</a:t>
                      </a:r>
                      <a:endParaRPr/>
                    </a:p>
                  </a:txBody>
                  <a:tcPr marT="13725" marB="13725" marR="45725" marL="73150" anchor="ctr">
                    <a:solidFill>
                      <a:srgbClr val="EDE9FE"/>
                    </a:solidFill>
                  </a:tcPr>
                </a:tc>
              </a:tr>
            </a:tbl>
          </a:graphicData>
        </a:graphic>
      </p:graphicFrame>
      <p:sp>
        <p:nvSpPr>
          <p:cNvPr id="315" name="Google Shape;315;p65"/>
          <p:cNvSpPr txBox="1"/>
          <p:nvPr/>
        </p:nvSpPr>
        <p:spPr>
          <a:xfrm>
            <a:off x="457200" y="5806440"/>
            <a:ext cx="112745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2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Mesmo software (g++ 13.3, mesmas ferramentas); hardware e ambiente bem diferentes. Ainda assim, os acessos a disco saem idênticos — só o tempo muda.</a:t>
            </a:r>
            <a:endParaRPr/>
          </a:p>
        </p:txBody>
      </p:sp>
      <p:sp>
        <p:nvSpPr>
          <p:cNvPr id="316" name="Google Shape;316;p6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 — AED-PG-2026          27/38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6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26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Dois sistemas — tempo (wall)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23" name="Google Shape;323;p26"/>
          <p:cNvGraphicFramePr/>
          <p:nvPr/>
        </p:nvGraphicFramePr>
        <p:xfrm>
          <a:off x="365760" y="105156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{A3B23757-EC40-42A0-A68A-69D55510E7BF}</a:tableStyleId>
              </a:tblPr>
              <a:tblGrid>
                <a:gridCol w="1079000"/>
                <a:gridCol w="1079000"/>
                <a:gridCol w="1079000"/>
                <a:gridCol w="1079000"/>
                <a:gridCol w="1079000"/>
              </a:tblGrid>
              <a:tr h="914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m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acessos disco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Notebook wall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Titan wall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speedup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4.982.252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6.05 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7.78 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0.78×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16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2.006.878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2.61 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2.23 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1.17×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100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1.346.869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2.02 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1.48 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1.36×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1000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1.033.255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2.22 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1.96 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1.14×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pic>
        <p:nvPicPr>
          <p:cNvPr descr="chart_wall_machines.png" id="324" name="Google Shape;324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89320" y="1280160"/>
            <a:ext cx="5943600" cy="3307457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26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pt-BR" sz="11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Mesmo programa, 2 máquinas: acessos a disco idênticos; só o tempo muda — a curva tem a mesma forma.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2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 — AED-PG-2026          28/38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27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7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Dois sistemas — CPU e determinismo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27"/>
          <p:cNvSpPr txBox="1"/>
          <p:nvPr/>
        </p:nvSpPr>
        <p:spPr>
          <a:xfrm>
            <a:off x="457200" y="1051560"/>
            <a:ext cx="11247120" cy="18745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pt-BR" sz="14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Tempo é quase todo CPU de sistema (I/O), não espera de disco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pt-BR" sz="14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Acessos idênticos: todos os pontos sobre y=x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pt-BR" sz="14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Determinística e portável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hart_cpu_split.png" id="334" name="Google Shape;334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274" y="3200400"/>
            <a:ext cx="5258252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335" name="Google Shape;335;p27"/>
          <p:cNvSpPr txBox="1"/>
          <p:nvPr/>
        </p:nvSpPr>
        <p:spPr>
          <a:xfrm>
            <a:off x="365760" y="6156480"/>
            <a:ext cx="5669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CPU usuário vs sistema (I/O) nas 2 máquinas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hart_determinism.png" id="336" name="Google Shape;336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69154" y="3200400"/>
            <a:ext cx="5258252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27"/>
          <p:cNvSpPr txBox="1"/>
          <p:nvPr/>
        </p:nvSpPr>
        <p:spPr>
          <a:xfrm>
            <a:off x="6263640" y="6156480"/>
            <a:ext cx="5669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Acessos a disco idênticos — pontos sobre y=x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27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 — AED-PG-2026          29/38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28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8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Dois sistemas — validação cruzada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8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Notebook × Titan (USP)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Acessos a disco idênticos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Só o tempo varia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Comparação via compare.py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hart_machines.png" id="346" name="Google Shape;346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55080" y="1371600"/>
            <a:ext cx="5577840" cy="3103921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28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 — AED-PG-2026          30/38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29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9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Dois sistemas — escala do conjunto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29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N até 1 milhão (m=100), nas 2 máquinas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Tempo cresce devagar (logarítmico)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Mesma tendência; Titan mais rápido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pt-BR" sz="16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Prova prática de escalabilidade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hart_scale_machines.png" id="355" name="Google Shape;355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55080" y="1371600"/>
            <a:ext cx="5577840" cy="3103921"/>
          </a:xfrm>
          <a:prstGeom prst="rect">
            <a:avLst/>
          </a:prstGeom>
          <a:noFill/>
          <a:ln>
            <a:noFill/>
          </a:ln>
        </p:spPr>
      </p:pic>
      <p:sp>
        <p:nvSpPr>
          <p:cNvPr id="356" name="Google Shape;356;p29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 — AED-PG-2026          31/38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64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64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Comparação de desempenho — Árvore B × Array ordenado</a:t>
            </a:r>
            <a:endParaRPr/>
          </a:p>
        </p:txBody>
      </p:sp>
      <p:pic>
        <p:nvPicPr>
          <p:cNvPr descr="cmp_btree_array.png" id="363" name="Google Shape;363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1051560"/>
            <a:ext cx="11430000" cy="320234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64" name="Google Shape;364;p64"/>
          <p:cNvGraphicFramePr/>
          <p:nvPr/>
        </p:nvGraphicFramePr>
        <p:xfrm>
          <a:off x="457200" y="452628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{F93A2A37-E859-4EAC-A324-26A2DBED01F2}</a:tableStyleId>
              </a:tblPr>
              <a:tblGrid>
                <a:gridCol w="1188725"/>
                <a:gridCol w="1856225"/>
                <a:gridCol w="1856225"/>
                <a:gridCol w="1856225"/>
              </a:tblGrid>
              <a:tr h="42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</a:t>
                      </a:r>
                      <a:endParaRPr/>
                    </a:p>
                  </a:txBody>
                  <a:tcPr marT="18300" marB="18300" marR="27425" marL="45725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Inserção</a:t>
                      </a:r>
                      <a:endParaRPr/>
                    </a:p>
                  </a:txBody>
                  <a:tcPr marT="18300" marB="18300" marR="27425" marL="45725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Busca</a:t>
                      </a:r>
                      <a:endParaRPr/>
                    </a:p>
                  </a:txBody>
                  <a:tcPr marT="18300" marB="18300" marR="27425" marL="45725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Remoção</a:t>
                      </a:r>
                      <a:endParaRPr/>
                    </a:p>
                  </a:txBody>
                  <a:tcPr marT="18300" marB="18300" marR="27425" marL="45725" anchor="ctr">
                    <a:solidFill>
                      <a:srgbClr val="1D4ED8"/>
                    </a:solidFill>
                  </a:tcPr>
                </a:tc>
              </a:tr>
              <a:tr h="42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</a:t>
                      </a:r>
                      <a:endParaRPr/>
                    </a:p>
                  </a:txBody>
                  <a:tcPr marT="18300" marB="18300" marR="27425" marL="45725"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1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5,7 / 58</a:t>
                      </a:r>
                      <a:endParaRPr/>
                    </a:p>
                  </a:txBody>
                  <a:tcPr marT="18300" marB="18300" marR="27425" marL="45725"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1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3,7 / 5,7</a:t>
                      </a:r>
                      <a:endParaRPr/>
                    </a:p>
                  </a:txBody>
                  <a:tcPr marT="18300" marB="18300" marR="27425" marL="45725"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1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7,7 / 54</a:t>
                      </a:r>
                      <a:endParaRPr/>
                    </a:p>
                  </a:txBody>
                  <a:tcPr marT="18300" marB="18300" marR="27425" marL="45725" anchor="ctr">
                    <a:solidFill>
                      <a:srgbClr val="EEF2FF"/>
                    </a:solidFill>
                  </a:tcPr>
                </a:tc>
              </a:tr>
              <a:tr h="42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</a:t>
                      </a:r>
                      <a:endParaRPr/>
                    </a:p>
                  </a:txBody>
                  <a:tcPr marT="18300" marB="18300" marR="27425" marL="4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1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7,5 / 496</a:t>
                      </a:r>
                      <a:endParaRPr/>
                    </a:p>
                  </a:txBody>
                  <a:tcPr marT="18300" marB="18300" marR="27425" marL="4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1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4,6 / 8,9</a:t>
                      </a:r>
                      <a:endParaRPr/>
                    </a:p>
                  </a:txBody>
                  <a:tcPr marT="18300" marB="18300" marR="27425" marL="4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1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9,5 / 525</a:t>
                      </a:r>
                      <a:endParaRPr/>
                    </a:p>
                  </a:txBody>
                  <a:tcPr marT="18300" marB="18300" marR="27425" marL="45725" anchor="ctr">
                    <a:solidFill>
                      <a:srgbClr val="FFFFFF"/>
                    </a:solidFill>
                  </a:tcPr>
                </a:tc>
              </a:tr>
              <a:tr h="422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10.000</a:t>
                      </a:r>
                      <a:endParaRPr/>
                    </a:p>
                  </a:txBody>
                  <a:tcPr marT="18300" marB="18300" marR="27425" marL="45725"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1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9,4 / 5037</a:t>
                      </a:r>
                      <a:endParaRPr/>
                    </a:p>
                  </a:txBody>
                  <a:tcPr marT="18300" marB="18300" marR="27425" marL="45725"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1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6,6 / 12</a:t>
                      </a:r>
                      <a:endParaRPr/>
                    </a:p>
                  </a:txBody>
                  <a:tcPr marT="18300" marB="18300" marR="27425" marL="45725"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pt-BR" sz="1100" u="none" cap="none" strike="noStrike">
                          <a:solidFill>
                            <a:srgbClr val="11182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11,3 / 4970</a:t>
                      </a:r>
                      <a:endParaRPr/>
                    </a:p>
                  </a:txBody>
                  <a:tcPr marT="18300" marB="18300" marR="27425" marL="45725" anchor="ctr"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sp>
        <p:nvSpPr>
          <p:cNvPr id="365" name="Google Shape;365;p64"/>
          <p:cNvSpPr txBox="1"/>
          <p:nvPr/>
        </p:nvSpPr>
        <p:spPr>
          <a:xfrm>
            <a:off x="457200" y="6263640"/>
            <a:ext cx="6766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Acessos médios/op  —  Árvore B / Array ordenado</a:t>
            </a:r>
            <a:endParaRPr/>
          </a:p>
        </p:txBody>
      </p:sp>
      <p:sp>
        <p:nvSpPr>
          <p:cNvPr id="366" name="Google Shape;366;p64"/>
          <p:cNvSpPr/>
          <p:nvPr/>
        </p:nvSpPr>
        <p:spPr>
          <a:xfrm>
            <a:off x="7589520" y="4526280"/>
            <a:ext cx="4114800" cy="1783080"/>
          </a:xfrm>
          <a:prstGeom prst="rect">
            <a:avLst/>
          </a:prstGeom>
          <a:solidFill>
            <a:srgbClr val="FEE2E2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137150" spcFirstLastPara="1" rIns="137150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2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Busca: quase empata — ambas O(log n).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pt-BR" sz="12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Inserção e remoção: array desloca ~N/2 registros (O(n)).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pt-BR" sz="125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→ até 538× (inserção) e 440× (remoção) mais I/O — N=10.000.</a:t>
            </a:r>
            <a:endParaRPr/>
          </a:p>
        </p:txBody>
      </p:sp>
      <p:sp>
        <p:nvSpPr>
          <p:cNvPr id="367" name="Google Shape;367;p6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 — AED-PG-2026          25/38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30"/>
          <p:cNvSpPr/>
          <p:nvPr/>
        </p:nvSpPr>
        <p:spPr>
          <a:xfrm>
            <a:off x="0" y="0"/>
            <a:ext cx="12191700" cy="86880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30"/>
          <p:cNvSpPr txBox="1"/>
          <p:nvPr/>
        </p:nvSpPr>
        <p:spPr>
          <a:xfrm>
            <a:off x="457200" y="109728"/>
            <a:ext cx="112470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 se usássemos union no header? (sugestão do prof.)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74" name="Google Shape;374;p30"/>
          <p:cNvGrpSpPr/>
          <p:nvPr/>
        </p:nvGrpSpPr>
        <p:grpSpPr>
          <a:xfrm>
            <a:off x="457200" y="1238250"/>
            <a:ext cx="3600600" cy="2857500"/>
            <a:chOff x="0" y="0"/>
            <a:chExt cx="3600600" cy="2857500"/>
          </a:xfrm>
        </p:grpSpPr>
        <p:sp>
          <p:nvSpPr>
            <p:cNvPr id="375" name="Google Shape;375;p30"/>
            <p:cNvSpPr/>
            <p:nvPr/>
          </p:nvSpPr>
          <p:spPr>
            <a:xfrm>
              <a:off x="0" y="0"/>
              <a:ext cx="3600600" cy="2857500"/>
            </a:xfrm>
            <a:prstGeom prst="roundRect">
              <a:avLst>
                <a:gd fmla="val 4000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" name="Google Shape;376;p30"/>
            <p:cNvSpPr txBox="1"/>
            <p:nvPr/>
          </p:nvSpPr>
          <p:spPr>
            <a:xfrm>
              <a:off x="0" y="0"/>
              <a:ext cx="3600600" cy="2857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8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Como está hoje</a:t>
              </a:r>
              <a:endParaRPr b="1" sz="18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374151"/>
                </a:buClr>
                <a:buSzPts val="1300"/>
                <a:buFont typeface="Calibri"/>
                <a:buChar char="●"/>
              </a:pPr>
              <a:r>
                <a:rPr lang="pt-BR" sz="13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Header e BNode são tipos separados</a:t>
              </a:r>
              <a:endParaRPr sz="13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374151"/>
                </a:buClr>
                <a:buSzPts val="1300"/>
                <a:buFont typeface="Calibri"/>
                <a:buChar char="●"/>
              </a:pPr>
              <a:r>
                <a:rPr lang="pt-BR" sz="13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E/S serializa campo a campo (memcpy)</a:t>
              </a:r>
              <a:endParaRPr sz="13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374151"/>
                </a:buClr>
                <a:buSzPts val="1300"/>
                <a:buFont typeface="Calibri"/>
                <a:buChar char="●"/>
              </a:pPr>
              <a:r>
                <a:rPr lang="pt-BR" sz="13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Header usa 1 página inteira (RRN uniforme)</a:t>
              </a:r>
              <a:endParaRPr sz="13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374151"/>
                </a:buClr>
                <a:buSzPts val="1300"/>
                <a:buFont typeface="Calibri"/>
                <a:buChar char="●"/>
              </a:pPr>
              <a:r>
                <a:rPr lang="pt-BR" sz="13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Nó livre esconde o próximo em K[1]</a:t>
              </a:r>
              <a:endParaRPr sz="13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7" name="Google Shape;377;p30"/>
          <p:cNvGrpSpPr/>
          <p:nvPr/>
        </p:nvGrpSpPr>
        <p:grpSpPr>
          <a:xfrm>
            <a:off x="4295775" y="1238250"/>
            <a:ext cx="3600600" cy="2857500"/>
            <a:chOff x="0" y="0"/>
            <a:chExt cx="3600600" cy="2857500"/>
          </a:xfrm>
        </p:grpSpPr>
        <p:sp>
          <p:nvSpPr>
            <p:cNvPr id="378" name="Google Shape;378;p30"/>
            <p:cNvSpPr/>
            <p:nvPr/>
          </p:nvSpPr>
          <p:spPr>
            <a:xfrm>
              <a:off x="0" y="0"/>
              <a:ext cx="3600600" cy="2857500"/>
            </a:xfrm>
            <a:prstGeom prst="roundRect">
              <a:avLst>
                <a:gd fmla="val 4000" name="adj"/>
              </a:avLst>
            </a:prstGeom>
            <a:solidFill>
              <a:srgbClr val="EFF6FF"/>
            </a:solidFill>
            <a:ln cap="flat" cmpd="sng" w="19050">
              <a:solidFill>
                <a:srgbClr val="1D4E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" name="Google Shape;379;p30"/>
            <p:cNvSpPr txBox="1"/>
            <p:nvPr/>
          </p:nvSpPr>
          <p:spPr>
            <a:xfrm>
              <a:off x="0" y="0"/>
              <a:ext cx="3600600" cy="2857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8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Com union</a:t>
              </a:r>
              <a:endParaRPr b="1" sz="18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DC2626"/>
                </a:buClr>
                <a:buSzPts val="1300"/>
                <a:buFont typeface="Calibri"/>
                <a:buChar char="●"/>
              </a:pPr>
              <a:r>
                <a:rPr lang="pt-BR" sz="13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Página única: header e nós no mesmo tamanho fixo</a:t>
              </a:r>
              <a:endParaRPr sz="13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DC2626"/>
                </a:buClr>
                <a:buSzPts val="1300"/>
                <a:buFont typeface="Calibri"/>
                <a:buChar char="●"/>
              </a:pPr>
              <a:r>
                <a:rPr lang="pt-BR" sz="13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Lê/escreve a página inteira → menos código</a:t>
              </a:r>
              <a:endParaRPr sz="13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DC2626"/>
                </a:buClr>
                <a:buSzPts val="1300"/>
                <a:buFont typeface="Calibri"/>
                <a:buChar char="●"/>
              </a:pPr>
              <a:r>
                <a:rPr lang="pt-BR" sz="13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FreeNode.next explícito (autodocumentado)</a:t>
              </a:r>
              <a:endParaRPr sz="13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DC2626"/>
                </a:buClr>
                <a:buSzPts val="1300"/>
                <a:buFont typeface="Calibri"/>
                <a:buChar char="●"/>
              </a:pPr>
              <a:r>
                <a:rPr b="1" lang="pt-BR" sz="1300">
                  <a:solidFill>
                    <a:srgbClr val="DC2626"/>
                  </a:solidFill>
                  <a:latin typeface="Calibri"/>
                  <a:ea typeface="Calibri"/>
                  <a:cs typeface="Calibri"/>
                  <a:sym typeface="Calibri"/>
                </a:rPr>
                <a:t>Custo: portabilidade (padding/endianness)</a:t>
              </a:r>
              <a:endParaRPr b="1" sz="1300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0" name="Google Shape;380;p30"/>
          <p:cNvGrpSpPr/>
          <p:nvPr/>
        </p:nvGrpSpPr>
        <p:grpSpPr>
          <a:xfrm>
            <a:off x="8134350" y="1238250"/>
            <a:ext cx="3600600" cy="2857500"/>
            <a:chOff x="0" y="0"/>
            <a:chExt cx="3600600" cy="2857500"/>
          </a:xfrm>
        </p:grpSpPr>
        <p:sp>
          <p:nvSpPr>
            <p:cNvPr id="381" name="Google Shape;381;p30"/>
            <p:cNvSpPr/>
            <p:nvPr/>
          </p:nvSpPr>
          <p:spPr>
            <a:xfrm>
              <a:off x="0" y="0"/>
              <a:ext cx="3600600" cy="2857500"/>
            </a:xfrm>
            <a:prstGeom prst="roundRect">
              <a:avLst>
                <a:gd fmla="val 4000" name="adj"/>
              </a:avLst>
            </a:prstGeom>
            <a:solidFill>
              <a:srgbClr val="ECFDF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" name="Google Shape;382;p30"/>
            <p:cNvSpPr txBox="1"/>
            <p:nvPr/>
          </p:nvSpPr>
          <p:spPr>
            <a:xfrm>
              <a:off x="0" y="0"/>
              <a:ext cx="3600600" cy="2857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800">
                  <a:solidFill>
                    <a:srgbClr val="059669"/>
                  </a:solidFill>
                  <a:latin typeface="Calibri"/>
                  <a:ea typeface="Calibri"/>
                  <a:cs typeface="Calibri"/>
                  <a:sym typeface="Calibri"/>
                </a:rPr>
                <a:t>Vantagens Gerais</a:t>
              </a:r>
              <a:endParaRPr b="1" sz="1800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374151"/>
                </a:buClr>
                <a:buSzPts val="1300"/>
                <a:buFont typeface="Calibri"/>
                <a:buChar char="●"/>
              </a:pPr>
              <a:r>
                <a:rPr lang="pt-BR" sz="13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Altura baixa → poucos acessos</a:t>
              </a:r>
              <a:endParaRPr sz="13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374151"/>
                </a:buClr>
                <a:buSzPts val="1300"/>
                <a:buFont typeface="Calibri"/>
                <a:buChar char="●"/>
              </a:pPr>
              <a:r>
                <a:rPr lang="pt-BR" sz="13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Sempre balanceada</a:t>
              </a:r>
              <a:endParaRPr sz="13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374151"/>
                </a:buClr>
                <a:buSzPts val="1300"/>
                <a:buFont typeface="Calibri"/>
                <a:buChar char="●"/>
              </a:pPr>
              <a:r>
                <a:rPr lang="pt-BR" sz="13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Ideal para disco e índices de SGBD</a:t>
              </a:r>
              <a:endParaRPr sz="13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374151"/>
                </a:buClr>
                <a:buSzPts val="1300"/>
                <a:buFont typeface="Calibri"/>
                <a:buChar char="●"/>
              </a:pPr>
              <a:r>
                <a:rPr lang="pt-BR" sz="13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Determinística + reuso de espaço</a:t>
              </a:r>
              <a:endParaRPr sz="13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3" name="Google Shape;383;p30"/>
          <p:cNvSpPr txBox="1"/>
          <p:nvPr/>
        </p:nvSpPr>
        <p:spPr>
          <a:xfrm>
            <a:off x="457200" y="6455664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 — AED-PG-2026          32/38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84" name="Google Shape;384;p30"/>
          <p:cNvGrpSpPr/>
          <p:nvPr/>
        </p:nvGrpSpPr>
        <p:grpSpPr>
          <a:xfrm>
            <a:off x="457200" y="4381500"/>
            <a:ext cx="11277600" cy="1714500"/>
            <a:chOff x="0" y="0"/>
            <a:chExt cx="11277600" cy="1714500"/>
          </a:xfrm>
        </p:grpSpPr>
        <p:sp>
          <p:nvSpPr>
            <p:cNvPr id="385" name="Google Shape;385;p30"/>
            <p:cNvSpPr/>
            <p:nvPr/>
          </p:nvSpPr>
          <p:spPr>
            <a:xfrm>
              <a:off x="0" y="0"/>
              <a:ext cx="11277600" cy="1714500"/>
            </a:xfrm>
            <a:prstGeom prst="roundRect">
              <a:avLst>
                <a:gd fmla="val 6666" name="adj"/>
              </a:avLst>
            </a:prstGeom>
            <a:solidFill>
              <a:srgbClr val="F9FAF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" name="Google Shape;386;p30"/>
            <p:cNvSpPr txBox="1"/>
            <p:nvPr/>
          </p:nvSpPr>
          <p:spPr>
            <a:xfrm>
              <a:off x="0" y="0"/>
              <a:ext cx="112776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600">
                  <a:solidFill>
                    <a:srgbClr val="6B7280"/>
                  </a:solidFill>
                  <a:latin typeface="Calibri"/>
                  <a:ea typeface="Calibri"/>
                  <a:cs typeface="Calibri"/>
                  <a:sym typeface="Calibri"/>
                </a:rPr>
                <a:t>Estrutura Unificada vs. Estrutura Fragmentada</a:t>
              </a:r>
              <a:endParaRPr b="1" sz="16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ctr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pt-BR" sz="1200">
                  <a:solidFill>
                    <a:srgbClr val="9CA3AF"/>
                  </a:solidFill>
                  <a:latin typeface="Calibri"/>
                  <a:ea typeface="Calibri"/>
                  <a:cs typeface="Calibri"/>
                  <a:sym typeface="Calibri"/>
                </a:rPr>
                <a:t>O uso de </a:t>
              </a:r>
              <a:r>
                <a:rPr b="1" lang="pt-BR" sz="12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union</a:t>
              </a:r>
              <a:r>
                <a:rPr lang="pt-BR" sz="1200">
                  <a:solidFill>
                    <a:srgbClr val="9CA3AF"/>
                  </a:solidFill>
                  <a:latin typeface="Calibri"/>
                  <a:ea typeface="Calibri"/>
                  <a:cs typeface="Calibri"/>
                  <a:sym typeface="Calibri"/>
                </a:rPr>
                <a:t> permite tratar metadados e dados como um bloco atômico de I/O.</a:t>
              </a:r>
              <a:endParaRPr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33"/>
          <p:cNvSpPr/>
          <p:nvPr/>
        </p:nvSpPr>
        <p:spPr>
          <a:xfrm>
            <a:off x="0" y="0"/>
            <a:ext cx="12191700" cy="86880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33"/>
          <p:cNvSpPr txBox="1"/>
          <p:nvPr/>
        </p:nvSpPr>
        <p:spPr>
          <a:xfrm>
            <a:off x="457200" y="109728"/>
            <a:ext cx="112470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Aplicações práticas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93" name="Google Shape;393;p33"/>
          <p:cNvGrpSpPr/>
          <p:nvPr/>
        </p:nvGrpSpPr>
        <p:grpSpPr>
          <a:xfrm>
            <a:off x="457200" y="1333500"/>
            <a:ext cx="2667000" cy="4572000"/>
            <a:chOff x="0" y="0"/>
            <a:chExt cx="2667000" cy="4572000"/>
          </a:xfrm>
        </p:grpSpPr>
        <p:sp>
          <p:nvSpPr>
            <p:cNvPr id="394" name="Google Shape;394;p33"/>
            <p:cNvSpPr/>
            <p:nvPr/>
          </p:nvSpPr>
          <p:spPr>
            <a:xfrm>
              <a:off x="0" y="0"/>
              <a:ext cx="2667000" cy="4572000"/>
            </a:xfrm>
            <a:prstGeom prst="roundRect">
              <a:avLst>
                <a:gd fmla="val 4285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" name="Google Shape;395;p33"/>
            <p:cNvSpPr txBox="1"/>
            <p:nvPr/>
          </p:nvSpPr>
          <p:spPr>
            <a:xfrm>
              <a:off x="0" y="0"/>
              <a:ext cx="2667000" cy="457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8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SGBDs</a:t>
              </a:r>
              <a:endParaRPr b="1" sz="18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0" lang="pt-BR" sz="13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B-Trees são fundamentais para o armazenamento eficiente de dados em sistemas gerenciadores de banco de dados relacionais.</a:t>
              </a:r>
              <a:endParaRPr b="0" sz="13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0" marL="457200" rtl="0" algn="l">
                <a:spcBef>
                  <a:spcPts val="800"/>
                </a:spcBef>
                <a:spcAft>
                  <a:spcPts val="0"/>
                </a:spcAft>
                <a:buClr>
                  <a:srgbClr val="4B5563"/>
                </a:buClr>
                <a:buSzPts val="1200"/>
                <a:buFont typeface="Calibri"/>
                <a:buChar char="●"/>
              </a:pPr>
              <a:r>
                <a:rPr lang="pt-BR" sz="1200">
                  <a:solidFill>
                    <a:srgbClr val="4B5563"/>
                  </a:solidFill>
                  <a:latin typeface="Calibri"/>
                  <a:ea typeface="Calibri"/>
                  <a:cs typeface="Calibri"/>
                  <a:sym typeface="Calibri"/>
                </a:rPr>
                <a:t>MySQL / InnoDB</a:t>
              </a:r>
              <a:endParaRPr sz="1200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4B5563"/>
                </a:buClr>
                <a:buSzPts val="1200"/>
                <a:buFont typeface="Calibri"/>
                <a:buChar char="●"/>
              </a:pPr>
              <a:r>
                <a:rPr lang="pt-BR" sz="1200">
                  <a:solidFill>
                    <a:srgbClr val="4B5563"/>
                  </a:solidFill>
                  <a:latin typeface="Calibri"/>
                  <a:ea typeface="Calibri"/>
                  <a:cs typeface="Calibri"/>
                  <a:sym typeface="Calibri"/>
                </a:rPr>
                <a:t>PostgreSQL</a:t>
              </a:r>
              <a:endParaRPr sz="1200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4B5563"/>
                </a:buClr>
                <a:buSzPts val="1200"/>
                <a:buFont typeface="Calibri"/>
                <a:buChar char="●"/>
              </a:pPr>
              <a:r>
                <a:rPr lang="pt-BR" sz="1200">
                  <a:solidFill>
                    <a:srgbClr val="4B5563"/>
                  </a:solidFill>
                  <a:latin typeface="Calibri"/>
                  <a:ea typeface="Calibri"/>
                  <a:cs typeface="Calibri"/>
                  <a:sym typeface="Calibri"/>
                </a:rPr>
                <a:t>Oracle</a:t>
              </a:r>
              <a:endParaRPr sz="1200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96" name="Google Shape;396;p33"/>
          <p:cNvSpPr txBox="1"/>
          <p:nvPr/>
        </p:nvSpPr>
        <p:spPr>
          <a:xfrm>
            <a:off x="457200" y="6455664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 — AED-PG-2026          35/38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97" name="Google Shape;397;p33"/>
          <p:cNvGrpSpPr/>
          <p:nvPr/>
        </p:nvGrpSpPr>
        <p:grpSpPr>
          <a:xfrm>
            <a:off x="3314700" y="1333500"/>
            <a:ext cx="2667000" cy="4572000"/>
            <a:chOff x="0" y="0"/>
            <a:chExt cx="2667000" cy="4572000"/>
          </a:xfrm>
        </p:grpSpPr>
        <p:sp>
          <p:nvSpPr>
            <p:cNvPr id="398" name="Google Shape;398;p33"/>
            <p:cNvSpPr/>
            <p:nvPr/>
          </p:nvSpPr>
          <p:spPr>
            <a:xfrm>
              <a:off x="0" y="0"/>
              <a:ext cx="2667000" cy="4572000"/>
            </a:xfrm>
            <a:prstGeom prst="roundRect">
              <a:avLst>
                <a:gd fmla="val 4285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" name="Google Shape;399;p33"/>
            <p:cNvSpPr txBox="1"/>
            <p:nvPr/>
          </p:nvSpPr>
          <p:spPr>
            <a:xfrm>
              <a:off x="0" y="0"/>
              <a:ext cx="2667000" cy="457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8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Sistemas de Arquivos</a:t>
              </a:r>
              <a:endParaRPr b="1" sz="18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0" lang="pt-BR" sz="13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Utilizadas para organizar blocos de dados em disco, permitindo acesso rápido a arquivos de grande escala.</a:t>
              </a:r>
              <a:endParaRPr b="0" sz="13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0" marL="457200" rtl="0" algn="l">
                <a:spcBef>
                  <a:spcPts val="800"/>
                </a:spcBef>
                <a:spcAft>
                  <a:spcPts val="0"/>
                </a:spcAft>
                <a:buClr>
                  <a:srgbClr val="4B5563"/>
                </a:buClr>
                <a:buSzPts val="1200"/>
                <a:buFont typeface="Calibri"/>
                <a:buChar char="●"/>
              </a:pPr>
              <a:r>
                <a:rPr lang="pt-BR" sz="1200">
                  <a:solidFill>
                    <a:srgbClr val="4B5563"/>
                  </a:solidFill>
                  <a:latin typeface="Calibri"/>
                  <a:ea typeface="Calibri"/>
                  <a:cs typeface="Calibri"/>
                  <a:sym typeface="Calibri"/>
                </a:rPr>
                <a:t>NTFS</a:t>
              </a:r>
              <a:endParaRPr sz="1200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4B5563"/>
                </a:buClr>
                <a:buSzPts val="1200"/>
                <a:buFont typeface="Calibri"/>
                <a:buChar char="●"/>
              </a:pPr>
              <a:r>
                <a:rPr lang="pt-BR" sz="1200">
                  <a:solidFill>
                    <a:srgbClr val="4B5563"/>
                  </a:solidFill>
                  <a:latin typeface="Calibri"/>
                  <a:ea typeface="Calibri"/>
                  <a:cs typeface="Calibri"/>
                  <a:sym typeface="Calibri"/>
                </a:rPr>
                <a:t>APFS</a:t>
              </a:r>
              <a:endParaRPr sz="1200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4B5563"/>
                </a:buClr>
                <a:buSzPts val="1200"/>
                <a:buFont typeface="Calibri"/>
                <a:buChar char="●"/>
              </a:pPr>
              <a:r>
                <a:rPr lang="pt-BR" sz="1200">
                  <a:solidFill>
                    <a:srgbClr val="4B5563"/>
                  </a:solidFill>
                  <a:latin typeface="Calibri"/>
                  <a:ea typeface="Calibri"/>
                  <a:cs typeface="Calibri"/>
                  <a:sym typeface="Calibri"/>
                </a:rPr>
                <a:t>ext4</a:t>
              </a:r>
              <a:endParaRPr sz="1200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4B5563"/>
                </a:buClr>
                <a:buSzPts val="1200"/>
                <a:buFont typeface="Calibri"/>
                <a:buChar char="●"/>
              </a:pPr>
              <a:r>
                <a:rPr lang="pt-BR" sz="1200">
                  <a:solidFill>
                    <a:srgbClr val="4B5563"/>
                  </a:solidFill>
                  <a:latin typeface="Calibri"/>
                  <a:ea typeface="Calibri"/>
                  <a:cs typeface="Calibri"/>
                  <a:sym typeface="Calibri"/>
                </a:rPr>
                <a:t>Btrfs</a:t>
              </a:r>
              <a:endParaRPr sz="1200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00" name="Google Shape;400;p33"/>
          <p:cNvGrpSpPr/>
          <p:nvPr/>
        </p:nvGrpSpPr>
        <p:grpSpPr>
          <a:xfrm>
            <a:off x="6172200" y="1333500"/>
            <a:ext cx="2667000" cy="4572000"/>
            <a:chOff x="0" y="0"/>
            <a:chExt cx="2667000" cy="4572000"/>
          </a:xfrm>
        </p:grpSpPr>
        <p:sp>
          <p:nvSpPr>
            <p:cNvPr id="401" name="Google Shape;401;p33"/>
            <p:cNvSpPr/>
            <p:nvPr/>
          </p:nvSpPr>
          <p:spPr>
            <a:xfrm>
              <a:off x="0" y="0"/>
              <a:ext cx="2667000" cy="4572000"/>
            </a:xfrm>
            <a:prstGeom prst="roundRect">
              <a:avLst>
                <a:gd fmla="val 4285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" name="Google Shape;402;p33"/>
            <p:cNvSpPr txBox="1"/>
            <p:nvPr/>
          </p:nvSpPr>
          <p:spPr>
            <a:xfrm>
              <a:off x="0" y="0"/>
              <a:ext cx="2667000" cy="457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8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Chave-valor</a:t>
              </a:r>
              <a:endParaRPr b="1" sz="18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0" lang="pt-BR" sz="13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Implementações leves e robustas para persistência de dados estruturados em chaves únicas.</a:t>
              </a:r>
              <a:endParaRPr b="0" sz="13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0" marL="457200" rtl="0" algn="l">
                <a:spcBef>
                  <a:spcPts val="800"/>
                </a:spcBef>
                <a:spcAft>
                  <a:spcPts val="0"/>
                </a:spcAft>
                <a:buClr>
                  <a:srgbClr val="4B5563"/>
                </a:buClr>
                <a:buSzPts val="1200"/>
                <a:buFont typeface="Calibri"/>
                <a:buChar char="●"/>
              </a:pPr>
              <a:r>
                <a:rPr lang="pt-BR" sz="1200">
                  <a:solidFill>
                    <a:srgbClr val="4B5563"/>
                  </a:solidFill>
                  <a:latin typeface="Calibri"/>
                  <a:ea typeface="Calibri"/>
                  <a:cs typeface="Calibri"/>
                  <a:sym typeface="Calibri"/>
                </a:rPr>
                <a:t>SQLite</a:t>
              </a:r>
              <a:endParaRPr sz="1200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4B5563"/>
                </a:buClr>
                <a:buSzPts val="1200"/>
                <a:buFont typeface="Calibri"/>
                <a:buChar char="●"/>
              </a:pPr>
              <a:r>
                <a:rPr lang="pt-BR" sz="1200">
                  <a:solidFill>
                    <a:srgbClr val="4B5563"/>
                  </a:solidFill>
                  <a:latin typeface="Calibri"/>
                  <a:ea typeface="Calibri"/>
                  <a:cs typeface="Calibri"/>
                  <a:sym typeface="Calibri"/>
                </a:rPr>
                <a:t>LMDB</a:t>
              </a:r>
              <a:endParaRPr sz="1200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4B5563"/>
                </a:buClr>
                <a:buSzPts val="1200"/>
                <a:buFont typeface="Calibri"/>
                <a:buChar char="●"/>
              </a:pPr>
              <a:r>
                <a:rPr lang="pt-BR" sz="1200">
                  <a:solidFill>
                    <a:srgbClr val="4B5563"/>
                  </a:solidFill>
                  <a:latin typeface="Calibri"/>
                  <a:ea typeface="Calibri"/>
                  <a:cs typeface="Calibri"/>
                  <a:sym typeface="Calibri"/>
                </a:rPr>
                <a:t>BerkeleyDB</a:t>
              </a:r>
              <a:endParaRPr sz="1200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03" name="Google Shape;403;p33"/>
          <p:cNvGrpSpPr/>
          <p:nvPr/>
        </p:nvGrpSpPr>
        <p:grpSpPr>
          <a:xfrm>
            <a:off x="9029700" y="1333500"/>
            <a:ext cx="2667000" cy="4572000"/>
            <a:chOff x="0" y="0"/>
            <a:chExt cx="2667000" cy="4572000"/>
          </a:xfrm>
        </p:grpSpPr>
        <p:sp>
          <p:nvSpPr>
            <p:cNvPr id="404" name="Google Shape;404;p33"/>
            <p:cNvSpPr/>
            <p:nvPr/>
          </p:nvSpPr>
          <p:spPr>
            <a:xfrm>
              <a:off x="0" y="0"/>
              <a:ext cx="2667000" cy="4572000"/>
            </a:xfrm>
            <a:prstGeom prst="roundRect">
              <a:avLst>
                <a:gd fmla="val 4285" name="adj"/>
              </a:avLst>
            </a:prstGeom>
            <a:solidFill>
              <a:srgbClr val="EFF6FF"/>
            </a:solidFill>
            <a:ln cap="flat" cmpd="sng" w="19050">
              <a:solidFill>
                <a:srgbClr val="1D4E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" name="Google Shape;405;p33"/>
            <p:cNvSpPr txBox="1"/>
            <p:nvPr/>
          </p:nvSpPr>
          <p:spPr>
            <a:xfrm>
              <a:off x="0" y="0"/>
              <a:ext cx="2667000" cy="457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28600" lIns="228600" spcFirstLastPara="1" rIns="228600" wrap="square" tIns="2286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8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Uso Natural</a:t>
              </a:r>
              <a:endParaRPr b="1" sz="18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ctr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pt-BR" sz="1400">
                  <a:solidFill>
                    <a:srgbClr val="1E40AF"/>
                  </a:solidFill>
                  <a:latin typeface="Calibri"/>
                  <a:ea typeface="Calibri"/>
                  <a:cs typeface="Calibri"/>
                  <a:sym typeface="Calibri"/>
                </a:rPr>
                <a:t>Índice de um banco em disco</a:t>
              </a:r>
              <a:endParaRPr b="1" sz="1400">
                <a:solidFill>
                  <a:srgbClr val="1E40A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ctr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i="1" lang="pt-BR" sz="1100">
                  <a:solidFill>
                    <a:srgbClr val="4B5563"/>
                  </a:solidFill>
                  <a:latin typeface="Calibri"/>
                  <a:ea typeface="Calibri"/>
                  <a:cs typeface="Calibri"/>
                  <a:sym typeface="Calibri"/>
                </a:rPr>
                <a:t>A estrutura foi concebida especificamente para minimizar acessos à memória secundária.</a:t>
              </a:r>
              <a:endParaRPr i="1" sz="1100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6"/>
          <p:cNvSpPr/>
          <p:nvPr/>
        </p:nvSpPr>
        <p:spPr>
          <a:xfrm>
            <a:off x="0" y="0"/>
            <a:ext cx="12191700" cy="86880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36"/>
          <p:cNvSpPr txBox="1"/>
          <p:nvPr/>
        </p:nvSpPr>
        <p:spPr>
          <a:xfrm>
            <a:off x="457200" y="109728"/>
            <a:ext cx="112470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Referências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36"/>
          <p:cNvSpPr txBox="1"/>
          <p:nvPr/>
        </p:nvSpPr>
        <p:spPr>
          <a:xfrm>
            <a:off x="457200" y="6455664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 — AED-PG-2026          37/38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13" name="Google Shape;413;p36"/>
          <p:cNvGrpSpPr/>
          <p:nvPr/>
        </p:nvGrpSpPr>
        <p:grpSpPr>
          <a:xfrm>
            <a:off x="638175" y="1333500"/>
            <a:ext cx="10915800" cy="3667200"/>
            <a:chOff x="638175" y="1333500"/>
            <a:chExt cx="10915800" cy="3667200"/>
          </a:xfrm>
        </p:grpSpPr>
        <p:grpSp>
          <p:nvGrpSpPr>
            <p:cNvPr id="414" name="Google Shape;414;p36"/>
            <p:cNvGrpSpPr/>
            <p:nvPr/>
          </p:nvGrpSpPr>
          <p:grpSpPr>
            <a:xfrm>
              <a:off x="638175" y="1333500"/>
              <a:ext cx="10915800" cy="809700"/>
              <a:chOff x="0" y="0"/>
              <a:chExt cx="10915800" cy="809700"/>
            </a:xfrm>
          </p:grpSpPr>
          <p:sp>
            <p:nvSpPr>
              <p:cNvPr id="415" name="Google Shape;415;p36"/>
              <p:cNvSpPr/>
              <p:nvPr/>
            </p:nvSpPr>
            <p:spPr>
              <a:xfrm>
                <a:off x="0" y="0"/>
                <a:ext cx="10915800" cy="809700"/>
              </a:xfrm>
              <a:prstGeom prst="roundRect">
                <a:avLst>
                  <a:gd fmla="val 9411" name="adj"/>
                </a:avLst>
              </a:prstGeom>
              <a:solidFill>
                <a:srgbClr val="F3F4F6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6" name="Google Shape;416;p36"/>
              <p:cNvSpPr txBox="1"/>
              <p:nvPr/>
            </p:nvSpPr>
            <p:spPr>
              <a:xfrm>
                <a:off x="0" y="0"/>
                <a:ext cx="10915800" cy="8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285750" spcFirstLastPara="1" rIns="28575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pt-BR" sz="1800">
                    <a:solidFill>
                      <a:srgbClr val="1D4E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Comer, D. (1979)</a:t>
                </a:r>
                <a:endParaRPr b="1" sz="18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pt-BR" sz="1400">
                    <a:solidFill>
                      <a:srgbClr val="37415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The Ubiquitous B-Tree. ACM Computing Surveys.</a:t>
                </a:r>
                <a:endParaRPr sz="14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17" name="Google Shape;417;p36"/>
            <p:cNvGrpSpPr/>
            <p:nvPr/>
          </p:nvGrpSpPr>
          <p:grpSpPr>
            <a:xfrm>
              <a:off x="638175" y="2286000"/>
              <a:ext cx="10915800" cy="809700"/>
              <a:chOff x="0" y="0"/>
              <a:chExt cx="10915800" cy="809700"/>
            </a:xfrm>
          </p:grpSpPr>
          <p:sp>
            <p:nvSpPr>
              <p:cNvPr id="418" name="Google Shape;418;p36"/>
              <p:cNvSpPr/>
              <p:nvPr/>
            </p:nvSpPr>
            <p:spPr>
              <a:xfrm>
                <a:off x="0" y="0"/>
                <a:ext cx="10915800" cy="809700"/>
              </a:xfrm>
              <a:prstGeom prst="roundRect">
                <a:avLst>
                  <a:gd fmla="val 9411" name="adj"/>
                </a:avLst>
              </a:prstGeom>
              <a:solidFill>
                <a:srgbClr val="F3F4F6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9" name="Google Shape;419;p36"/>
              <p:cNvSpPr txBox="1"/>
              <p:nvPr/>
            </p:nvSpPr>
            <p:spPr>
              <a:xfrm>
                <a:off x="0" y="0"/>
                <a:ext cx="10915800" cy="8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285750" spcFirstLastPara="1" rIns="28575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pt-BR" sz="1800">
                    <a:solidFill>
                      <a:srgbClr val="1D4E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Knuth, D.</a:t>
                </a:r>
                <a:endParaRPr b="1" sz="18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pt-BR" sz="1400">
                    <a:solidFill>
                      <a:srgbClr val="37415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The Art of Computer Programming, Vol. 3.</a:t>
                </a:r>
                <a:endParaRPr sz="14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20" name="Google Shape;420;p36"/>
            <p:cNvGrpSpPr/>
            <p:nvPr/>
          </p:nvGrpSpPr>
          <p:grpSpPr>
            <a:xfrm>
              <a:off x="638175" y="3238500"/>
              <a:ext cx="10915800" cy="809700"/>
              <a:chOff x="0" y="0"/>
              <a:chExt cx="10915800" cy="809700"/>
            </a:xfrm>
          </p:grpSpPr>
          <p:sp>
            <p:nvSpPr>
              <p:cNvPr id="421" name="Google Shape;421;p36"/>
              <p:cNvSpPr/>
              <p:nvPr/>
            </p:nvSpPr>
            <p:spPr>
              <a:xfrm>
                <a:off x="0" y="0"/>
                <a:ext cx="10915800" cy="809700"/>
              </a:xfrm>
              <a:prstGeom prst="roundRect">
                <a:avLst>
                  <a:gd fmla="val 9411" name="adj"/>
                </a:avLst>
              </a:prstGeom>
              <a:solidFill>
                <a:srgbClr val="F3F4F6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2" name="Google Shape;422;p36"/>
              <p:cNvSpPr txBox="1"/>
              <p:nvPr/>
            </p:nvSpPr>
            <p:spPr>
              <a:xfrm>
                <a:off x="0" y="0"/>
                <a:ext cx="10915800" cy="8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285750" spcFirstLastPara="1" rIns="28575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pt-BR" sz="1800">
                    <a:solidFill>
                      <a:srgbClr val="1D4E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Bayer, R. &amp; McCreight, E. (1972)</a:t>
                </a:r>
                <a:endParaRPr b="1" sz="18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pt-BR" sz="1400">
                    <a:solidFill>
                      <a:srgbClr val="37415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Large Ordered Indexes.</a:t>
                </a:r>
                <a:endParaRPr sz="14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23" name="Google Shape;423;p36"/>
            <p:cNvGrpSpPr/>
            <p:nvPr/>
          </p:nvGrpSpPr>
          <p:grpSpPr>
            <a:xfrm>
              <a:off x="638175" y="4191000"/>
              <a:ext cx="10915800" cy="809700"/>
              <a:chOff x="0" y="0"/>
              <a:chExt cx="10915800" cy="809700"/>
            </a:xfrm>
          </p:grpSpPr>
          <p:sp>
            <p:nvSpPr>
              <p:cNvPr id="424" name="Google Shape;424;p36"/>
              <p:cNvSpPr/>
              <p:nvPr/>
            </p:nvSpPr>
            <p:spPr>
              <a:xfrm>
                <a:off x="0" y="0"/>
                <a:ext cx="10915800" cy="809700"/>
              </a:xfrm>
              <a:prstGeom prst="roundRect">
                <a:avLst>
                  <a:gd fmla="val 9411" name="adj"/>
                </a:avLst>
              </a:prstGeom>
              <a:solidFill>
                <a:srgbClr val="F3F4F6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5" name="Google Shape;425;p36"/>
              <p:cNvSpPr txBox="1"/>
              <p:nvPr/>
            </p:nvSpPr>
            <p:spPr>
              <a:xfrm>
                <a:off x="0" y="0"/>
                <a:ext cx="10915800" cy="8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285750" spcFirstLastPara="1" rIns="28575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pt-BR" sz="1800">
                    <a:solidFill>
                      <a:srgbClr val="1D4E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Baranauskas, J. A.</a:t>
                </a:r>
                <a:endParaRPr b="1" sz="1800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pt-BR" sz="1400">
                    <a:solidFill>
                      <a:srgbClr val="37415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Slides AED-PG-2026 (Árvores B). DCM / USP.</a:t>
                </a:r>
                <a:endParaRPr sz="14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35"/>
          <p:cNvSpPr/>
          <p:nvPr/>
        </p:nvSpPr>
        <p:spPr>
          <a:xfrm>
            <a:off x="0" y="0"/>
            <a:ext cx="12191700" cy="86880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35"/>
          <p:cNvSpPr txBox="1"/>
          <p:nvPr/>
        </p:nvSpPr>
        <p:spPr>
          <a:xfrm>
            <a:off x="457200" y="109728"/>
            <a:ext cx="112470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pt-BR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35"/>
          <p:cNvGrpSpPr/>
          <p:nvPr/>
        </p:nvGrpSpPr>
        <p:grpSpPr>
          <a:xfrm>
            <a:off x="0" y="868680"/>
            <a:ext cx="12192000" cy="2160270"/>
            <a:chOff x="0" y="868680"/>
            <a:chExt cx="12192000" cy="2160270"/>
          </a:xfrm>
        </p:grpSpPr>
        <p:sp>
          <p:nvSpPr>
            <p:cNvPr id="433" name="Google Shape;433;p35"/>
            <p:cNvSpPr/>
            <p:nvPr/>
          </p:nvSpPr>
          <p:spPr>
            <a:xfrm>
              <a:off x="5715000" y="2952750"/>
              <a:ext cx="762000" cy="76200"/>
            </a:xfrm>
            <a:prstGeom prst="roundRect">
              <a:avLst>
                <a:gd fmla="val 50000" name="adj"/>
              </a:avLst>
            </a:prstGeom>
            <a:solidFill>
              <a:srgbClr val="1D4ED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" name="Google Shape;434;p35"/>
            <p:cNvSpPr/>
            <p:nvPr/>
          </p:nvSpPr>
          <p:spPr>
            <a:xfrm>
              <a:off x="0" y="868680"/>
              <a:ext cx="12192000" cy="9600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35" name="Google Shape;435;p35"/>
          <p:cNvSpPr txBox="1"/>
          <p:nvPr/>
        </p:nvSpPr>
        <p:spPr>
          <a:xfrm>
            <a:off x="609600" y="1714500"/>
            <a:ext cx="10972800" cy="36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6400">
              <a:solidFill>
                <a:srgbClr val="1D4E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64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Muito Obrigado</a:t>
            </a:r>
            <a:endParaRPr b="1" sz="6400">
              <a:solidFill>
                <a:srgbClr val="1D4E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1800"/>
              </a:spcBef>
              <a:spcAft>
                <a:spcPts val="0"/>
              </a:spcAft>
              <a:buNone/>
            </a:pPr>
            <a:r>
              <a:rPr b="0" lang="pt-BR" sz="2400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Perguntas?</a:t>
            </a:r>
            <a:endParaRPr b="0" sz="2400">
              <a:solidFill>
                <a:srgbClr val="4B556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5"/>
          <p:cNvSpPr txBox="1"/>
          <p:nvPr/>
        </p:nvSpPr>
        <p:spPr>
          <a:xfrm>
            <a:off x="457200" y="6455664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pt-BR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Árvore B em Memória Secundária — AED-PG-2026          36/38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Cezio Ferreira</dc:creator>
</cp:coreProperties>
</file>