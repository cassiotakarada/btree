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jzj9GWBymjmAEDfRdh0T/mjsQw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C2BB08-0BC5-4FCE-B91E-25C9619F0521}">
  <a:tblStyle styleId="{6DC2BB08-0BC5-4FCE-B91E-25C9619F052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06D4441D-6F2B-4F01-9669-A21779A9EA7D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9"/>
          <p:cNvSpPr/>
          <p:nvPr/>
        </p:nvSpPr>
        <p:spPr>
          <a:xfrm>
            <a:off x="0" y="0"/>
            <a:ext cx="12192000" cy="3238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9"/>
          <p:cNvSpPr/>
          <p:nvPr/>
        </p:nvSpPr>
        <p:spPr>
          <a:xfrm>
            <a:off x="762000" y="2667000"/>
            <a:ext cx="1143000" cy="57300"/>
          </a:xfrm>
          <a:prstGeom prst="roundRect">
            <a:avLst>
              <a:gd fmla="val 50000" name="adj"/>
            </a:avLst>
          </a:prstGeom>
          <a:solidFill>
            <a:srgbClr val="60A5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49"/>
          <p:cNvGrpSpPr/>
          <p:nvPr/>
        </p:nvGrpSpPr>
        <p:grpSpPr>
          <a:xfrm>
            <a:off x="762000" y="3619500"/>
            <a:ext cx="10668000" cy="2476500"/>
            <a:chOff x="0" y="0"/>
            <a:chExt cx="10668000" cy="2476500"/>
          </a:xfrm>
        </p:grpSpPr>
        <p:sp>
          <p:nvSpPr>
            <p:cNvPr id="87" name="Google Shape;87;p49"/>
            <p:cNvSpPr/>
            <p:nvPr/>
          </p:nvSpPr>
          <p:spPr>
            <a:xfrm>
              <a:off x="0" y="0"/>
              <a:ext cx="10668000" cy="2476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9"/>
            <p:cNvSpPr txBox="1"/>
            <p:nvPr/>
          </p:nvSpPr>
          <p:spPr>
            <a:xfrm>
              <a:off x="381000" y="381000"/>
              <a:ext cx="990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4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Disciplina &amp; Contexto</a:t>
              </a:r>
              <a:endParaRPr b="1" sz="124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24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Algoritmos e Estruturas de Dados — AED-PG-2026 (5955001-3)</a:t>
              </a:r>
              <a:endParaRPr sz="124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24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Prof. Dr. José Augusto Baranauskas — DCM / USP</a:t>
              </a:r>
              <a:endParaRPr sz="124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pt-BR" sz="124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Desenvolvedores &amp; Tecnologia</a:t>
              </a:r>
              <a:endParaRPr b="1" sz="124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24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Cássio Takarada · Cézio Luiz Ferreira Junior</a:t>
              </a:r>
              <a:endParaRPr sz="124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24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C++17 · 1º Semestre / 2026</a:t>
              </a:r>
              <a:endParaRPr sz="124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49"/>
          <p:cNvSpPr txBox="1"/>
          <p:nvPr/>
        </p:nvSpPr>
        <p:spPr>
          <a:xfrm>
            <a:off x="762000" y="762000"/>
            <a:ext cx="10668000" cy="8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</a:t>
            </a:r>
            <a:endParaRPr b="1" sz="5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9"/>
          <p:cNvSpPr txBox="1"/>
          <p:nvPr/>
        </p:nvSpPr>
        <p:spPr>
          <a:xfrm>
            <a:off x="762000" y="1905000"/>
            <a:ext cx="10668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Uma classe Árvore B de ordem m operando estritamente em disco</a:t>
            </a:r>
            <a:endParaRPr b="0" sz="2000">
              <a:solidFill>
                <a:srgbClr val="DBEA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0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0"/>
          <p:cNvSpPr txBox="1"/>
          <p:nvPr/>
        </p:nvSpPr>
        <p:spPr>
          <a:xfrm>
            <a:off x="457200" y="109728"/>
            <a:ext cx="11247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Roteiro</a:t>
            </a:r>
            <a:endParaRPr/>
          </a:p>
        </p:txBody>
      </p:sp>
      <p:sp>
        <p:nvSpPr>
          <p:cNvPr id="97" name="Google Shape;97;p50"/>
          <p:cNvSpPr txBox="1"/>
          <p:nvPr/>
        </p:nvSpPr>
        <p:spPr>
          <a:xfrm>
            <a:off x="411480" y="1051560"/>
            <a:ext cx="5623500" cy="1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Parte 1 — a estrutura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Contextualização: Por que disco e por que Árvore B ?</a:t>
            </a:r>
            <a:endParaRPr b="0" i="0" sz="14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Estrutura: nó e arquivo (parâmetros e nó)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Problema e objetivo do projeto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    Recordação:  Busca, inserção e Remoção</a:t>
            </a:r>
            <a:endParaRPr b="0" i="0" sz="14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Demonstração ao vivo</a:t>
            </a:r>
            <a:endParaRPr b="0" i="0" sz="14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0"/>
          <p:cNvSpPr txBox="1"/>
          <p:nvPr/>
        </p:nvSpPr>
        <p:spPr>
          <a:xfrm>
            <a:off x="6263640" y="1051560"/>
            <a:ext cx="5623500" cy="5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Parte 2 — a avaliação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Experimentos e métricas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Impacto da ordem 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Escala e reaproveitamento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Validação em 2 máquinas + conclusões</a:t>
            </a:r>
            <a:endParaRPr/>
          </a:p>
        </p:txBody>
      </p:sp>
      <p:sp>
        <p:nvSpPr>
          <p:cNvPr id="99" name="Google Shape;99;p50"/>
          <p:cNvSpPr txBox="1"/>
          <p:nvPr/>
        </p:nvSpPr>
        <p:spPr>
          <a:xfrm>
            <a:off x="457200" y="6455664"/>
            <a:ext cx="11247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1/38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1"/>
          <p:cNvSpPr/>
          <p:nvPr/>
        </p:nvSpPr>
        <p:spPr>
          <a:xfrm>
            <a:off x="-40615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1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Contextualização: memória rápida × disco lento</a:t>
            </a:r>
            <a:endParaRPr/>
          </a:p>
        </p:txBody>
      </p:sp>
      <p:sp>
        <p:nvSpPr>
          <p:cNvPr id="106" name="Google Shape;106;p51"/>
          <p:cNvSpPr txBox="1"/>
          <p:nvPr/>
        </p:nvSpPr>
        <p:spPr>
          <a:xfrm>
            <a:off x="133350" y="2033955"/>
            <a:ext cx="12017730" cy="3631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pt-BR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Por que disco e por que Árvore B 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Restrição: RAM é rápida, volátil e com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baixa capacidade de armazenamento.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Solução: Disco possui alta capacidade de armazenamento, permanente, mas na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ordem de 10^6 mais lento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⇒"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Em um BD real o verdadeiro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gargalo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é o número de acessos (I/O) ao disco.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Objetivo: Escolher ED que minimizem o número de acessos ao disco.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⇒"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Árvore B: menos profunda que outras estruturas (menos acessos ao disco).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1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2/38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2"/>
          <p:cNvSpPr/>
          <p:nvPr/>
        </p:nvSpPr>
        <p:spPr>
          <a:xfrm>
            <a:off x="0" y="0"/>
            <a:ext cx="12192000" cy="771525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Árvore B: Parâmetros e Estrutura formal do nó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2"/>
          <p:cNvSpPr txBox="1"/>
          <p:nvPr/>
        </p:nvSpPr>
        <p:spPr>
          <a:xfrm>
            <a:off x="552448" y="4420701"/>
            <a:ext cx="854554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Registro de tamanho fixo (todos os nós têm o mesmo tamanho)→  acesso direto ao nó via offset.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Campos: n · ponteiros A[ ] · chaves K[ ]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Exemplo, leia A[0] = 17:  “filho esquerdo de um nó está no RRN 17”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Ordem m → até m-1 chaves e m filhos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node_anatomy.png" id="114" name="Google Shape;11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10941"/>
            <a:ext cx="7742928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2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secundária— AED-PG-2026         3/38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3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Árvores geradas pelo Graphviz</a:t>
            </a:r>
            <a:endParaRPr b="1" i="0" sz="2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3"/>
          <p:cNvSpPr txBox="1"/>
          <p:nvPr/>
        </p:nvSpPr>
        <p:spPr>
          <a:xfrm>
            <a:off x="457200" y="1051560"/>
            <a:ext cx="11247120" cy="990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Cada caixa= nó no disco (RRN)</a:t>
            </a:r>
            <a:endParaRPr b="0" i="0" sz="15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pt-BR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m=3 e </a:t>
            </a:r>
            <a:r>
              <a:rPr b="0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m=4 ( mais chaves por nó→ </a:t>
            </a:r>
            <a:r>
              <a:rPr b="1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tende</a:t>
            </a:r>
            <a:r>
              <a:rPr b="0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a ser menos profunda)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 Obs</a:t>
            </a:r>
            <a:r>
              <a:rPr b="0" i="1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h ≈ logₘ(n</a:t>
            </a:r>
            <a:r>
              <a:rPr b="0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5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s_m3_m5.png" id="123" name="Google Shape;12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501" y="2939796"/>
            <a:ext cx="8020318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3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4/38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4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Layout do arquivo no disco</a:t>
            </a:r>
            <a:endParaRPr/>
          </a:p>
        </p:txBody>
      </p:sp>
      <p:sp>
        <p:nvSpPr>
          <p:cNvPr id="131" name="Google Shape;131;p54"/>
          <p:cNvSpPr txBox="1"/>
          <p:nvPr/>
        </p:nvSpPr>
        <p:spPr>
          <a:xfrm>
            <a:off x="95250" y="629678"/>
            <a:ext cx="6000750" cy="4873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Cabeçalho (RRN 0):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Guarda</a:t>
            </a: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a posição da raiz, total de nós, ponteiro da free list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RRN 0 = header (root, total, free_head)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Permite abrir o arquivo com um único acesso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Acesso direto por RRN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Cada nó</a:t>
            </a: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 ocupa uma página fixa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offset = RRN × PAGE_SIZE (posição exata na memória).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Reaproveitamento de nós (free List)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Nós removidos entram na free list (reuso)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free_head </a:t>
            </a: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aponta para o primeiro nó livre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Evita fragmentação e crescimento desnecessário do arquivo</a:t>
            </a:r>
            <a:endParaRPr b="0" i="0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file_layout.png" id="132" name="Google Shape;13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8157" y="1162536"/>
            <a:ext cx="6653537" cy="306207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4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em memória secundária— AED-PG-2026          5/38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5"/>
          <p:cNvSpPr txBox="1"/>
          <p:nvPr/>
        </p:nvSpPr>
        <p:spPr>
          <a:xfrm>
            <a:off x="502920" y="211202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 e objetivos</a:t>
            </a:r>
            <a:endParaRPr b="1" i="0" sz="2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5"/>
          <p:cNvSpPr txBox="1"/>
          <p:nvPr/>
        </p:nvSpPr>
        <p:spPr>
          <a:xfrm>
            <a:off x="795355" y="1276611"/>
            <a:ext cx="10850305" cy="34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Enunciado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Implementação de uma classe Árvore B de ordem </a:t>
            </a:r>
            <a:r>
              <a:rPr b="0" i="1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que resida em  MEMÓRIA SECUNDÁRIA (um arquivo em disco)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Restrição Central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Nunca carregada inteira na RAM – cada operação acessa um nó por vez.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Operações básicas 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Busca, inserção e Remoção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b="0" i="0" lang="pt-BR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: avaliação do desempenho para variações da ordem de m, n.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Extra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Implementação de uma </a:t>
            </a:r>
            <a:r>
              <a:rPr b="1" i="1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Free List 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(reaproveitamento de nós deletados do disco).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Comparação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duas máquinas: 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Notebook pessoal X Servidor Titan (USP)</a:t>
            </a:r>
            <a:endParaRPr/>
          </a:p>
        </p:txBody>
      </p:sp>
      <p:sp>
        <p:nvSpPr>
          <p:cNvPr id="141" name="Google Shape;141;p55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secundária— AED-PG-2026          6/38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6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índice e a métrica mais fiel</a:t>
            </a:r>
            <a:endParaRPr b="1" i="0" sz="2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6"/>
          <p:cNvSpPr txBox="1"/>
          <p:nvPr/>
        </p:nvSpPr>
        <p:spPr>
          <a:xfrm>
            <a:off x="640080" y="2656880"/>
            <a:ext cx="10972800" cy="20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 estrutura “L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ayout do arquivo em disco”(header + RRNs + páginas fixas), faz a Árvore B funcionar como um índice e evita a leitura do arquivo inteiro, ie, segue apenas o caminho raiz → folha.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header (cabeçalho) aponta para a raiz: busca começa em um único acesso.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Métrica mais fiel = nº de acessos ao disco (não o relógio).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 relógio engana: a escrita vai ao cache do SO.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6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7/38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7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Decisões de implementação</a:t>
            </a:r>
            <a:endParaRPr/>
          </a:p>
        </p:txBody>
      </p:sp>
      <p:sp>
        <p:nvSpPr>
          <p:cNvPr id="156" name="Google Shape;156;p57"/>
          <p:cNvSpPr txBox="1"/>
          <p:nvPr/>
        </p:nvSpPr>
        <p:spPr>
          <a:xfrm>
            <a:off x="457200" y="1062193"/>
            <a:ext cx="1094422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Resumo das principais decisões: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Ordem m definida em compilação: tamanho do nó é fixo, PAGE_SIZE constante→ cálculo de offsets é simplificado </a:t>
            </a:r>
            <a:endParaRPr b="0" i="0" sz="15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Raiz no header (cabeçalho) → abertura do arquivo em O(1) (um único acesso inicial)</a:t>
            </a:r>
            <a:endParaRPr b="0" i="0" sz="15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cada nó corresponde a uma página → cada leitura equivale a uma página→ métrica fica objetiva </a:t>
            </a:r>
            <a:endParaRPr b="0" i="0" sz="15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3_final.png" id="157" name="Google Shape;15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2819400"/>
            <a:ext cx="11487151" cy="3428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7"/>
          <p:cNvSpPr txBox="1"/>
          <p:nvPr/>
        </p:nvSpPr>
        <p:spPr>
          <a:xfrm>
            <a:off x="457200" y="627789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(m=3, 40 chaves) exportada pelo próprio código — o número é o RRN no disco</a:t>
            </a:r>
            <a:endParaRPr/>
          </a:p>
        </p:txBody>
      </p:sp>
      <p:sp>
        <p:nvSpPr>
          <p:cNvPr id="159" name="Google Shape;159;p57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secundária— AED-PG-2026          8/38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8"/>
          <p:cNvSpPr txBox="1"/>
          <p:nvPr/>
        </p:nvSpPr>
        <p:spPr>
          <a:xfrm>
            <a:off x="457200" y="331"/>
            <a:ext cx="11247120" cy="87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Classe DiskManager — um nó por I/O</a:t>
            </a:r>
            <a:endParaRPr b="1" i="0" sz="2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8"/>
          <p:cNvSpPr txBox="1"/>
          <p:nvPr/>
        </p:nvSpPr>
        <p:spPr>
          <a:xfrm>
            <a:off x="640081" y="1250601"/>
            <a:ext cx="10109436" cy="4555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Toda I/O passa pelo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DiskManager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Sempre que a análise de um nó é necessária  é feita uma leitura (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readNode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), se houver alteração nele, a  escrita é realizada (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writeNode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readNote / writeNode = 1 registro de PAGE_SIZE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Nessa classe reside o contador de acessos (métrica central).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 árvore nunca é totalmente carregada na RAM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Resumo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Árvore funciona como um índice em disco. O cabeçalho aponta para a raiz, os nós são endereçados pelo RRN; cada página corresponde a um I/O e toda a persistência é centralizada na classe DiskManager.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8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secundária— AED-PG-2026          9/38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9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Métodos — visão geral</a:t>
            </a:r>
            <a:endParaRPr/>
          </a:p>
        </p:txBody>
      </p:sp>
      <p:sp>
        <p:nvSpPr>
          <p:cNvPr id="174" name="Google Shape;174;p59"/>
          <p:cNvSpPr txBox="1"/>
          <p:nvPr/>
        </p:nvSpPr>
        <p:spPr>
          <a:xfrm>
            <a:off x="640080" y="2810768"/>
            <a:ext cx="1097280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Busca m-vias (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mSearch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Inserção: Abordagem bottom-up com split (i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nsertB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Remoção: sucessor, redistribuição e fusão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(deleteB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Monitoramento: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printTree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height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· exportDot</a:t>
            </a:r>
            <a:endParaRPr/>
          </a:p>
        </p:txBody>
      </p:sp>
      <p:sp>
        <p:nvSpPr>
          <p:cNvPr id="175" name="Google Shape;175;p59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10/38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0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m-way</a:t>
            </a:r>
            <a:endParaRPr/>
          </a:p>
        </p:txBody>
      </p:sp>
      <p:sp>
        <p:nvSpPr>
          <p:cNvPr id="182" name="Google Shape;182;p60"/>
          <p:cNvSpPr txBox="1"/>
          <p:nvPr/>
        </p:nvSpPr>
        <p:spPr>
          <a:xfrm>
            <a:off x="116957" y="1588083"/>
            <a:ext cx="7453424" cy="1036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Chaves dividem o universo em faixas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Nível lógico</a:t>
            </a: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: Desce pelo ponteiro da faixa certa 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Custo ≈ altura da árvore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3_final.png" id="183" name="Google Shape;18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5139" y="1329020"/>
            <a:ext cx="7928916" cy="447713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0"/>
          <p:cNvSpPr txBox="1"/>
          <p:nvPr/>
        </p:nvSpPr>
        <p:spPr>
          <a:xfrm>
            <a:off x="6126480" y="5989320"/>
            <a:ext cx="557784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busca segue um caminho da raiz à folha</a:t>
            </a:r>
            <a:endParaRPr b="0" i="0" sz="9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0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11/38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1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Inserção e split</a:t>
            </a:r>
            <a:endParaRPr/>
          </a:p>
        </p:txBody>
      </p:sp>
      <p:sp>
        <p:nvSpPr>
          <p:cNvPr id="192" name="Google Shape;192;p61"/>
          <p:cNvSpPr txBox="1"/>
          <p:nvPr/>
        </p:nvSpPr>
        <p:spPr>
          <a:xfrm>
            <a:off x="640080" y="2810768"/>
            <a:ext cx="1097280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Bottom-up: acha a folha, insere em ordem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Estourou (&gt; m-1 chaves)? → split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Regra de split é acionada de acordo com o m (ex: mediana sobe ao pai); pode propagar e criar raiz.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É o que mantém a árvore balanceada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1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12/38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Remoção — sucessor, redistribuição e fusão</a:t>
            </a:r>
            <a:endParaRPr/>
          </a:p>
        </p:txBody>
      </p:sp>
      <p:sp>
        <p:nvSpPr>
          <p:cNvPr id="200" name="Google Shape;200;p62"/>
          <p:cNvSpPr txBox="1"/>
          <p:nvPr/>
        </p:nvSpPr>
        <p:spPr>
          <a:xfrm>
            <a:off x="640080" y="2810768"/>
            <a:ext cx="1097280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Nó interno: troca pelo sucessor em order.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Folha pode ficar em underflow.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Redistribuição: empresta de um irmão.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Fusão: funde com irmão + chave do pai.</a:t>
            </a:r>
            <a:endParaRPr/>
          </a:p>
        </p:txBody>
      </p:sp>
      <p:sp>
        <p:nvSpPr>
          <p:cNvPr id="201" name="Google Shape;201;p62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13/38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3"/>
          <p:cNvSpPr txBox="1"/>
          <p:nvPr/>
        </p:nvSpPr>
        <p:spPr>
          <a:xfrm>
            <a:off x="457200" y="215774"/>
            <a:ext cx="112471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Reaproveitamento – Free List</a:t>
            </a:r>
            <a:endParaRPr b="1" i="0" sz="2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3"/>
          <p:cNvSpPr txBox="1"/>
          <p:nvPr/>
        </p:nvSpPr>
        <p:spPr>
          <a:xfrm>
            <a:off x="640080" y="2810768"/>
            <a:ext cx="1097280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 libera nó → vira nó LIVRE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freeNode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encadeia na lista (free_head no header)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allocNode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reusa antes de crescer o arquivo</a:t>
            </a:r>
            <a:endParaRPr b="0" i="0" sz="2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Ligável (</a:t>
            </a:r>
            <a:r>
              <a:rPr b="1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setReuse</a:t>
            </a: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) —medido no churn</a:t>
            </a:r>
            <a:endParaRPr/>
          </a:p>
        </p:txBody>
      </p:sp>
      <p:sp>
        <p:nvSpPr>
          <p:cNvPr id="209" name="Google Shape;209;p63"/>
          <p:cNvSpPr txBox="1"/>
          <p:nvPr/>
        </p:nvSpPr>
        <p:spPr>
          <a:xfrm>
            <a:off x="457200" y="6455664"/>
            <a:ext cx="112471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14/38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457200" y="109728"/>
            <a:ext cx="1124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Resumo — o que o código faz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16"/>
          <p:cNvGrpSpPr/>
          <p:nvPr/>
        </p:nvGrpSpPr>
        <p:grpSpPr>
          <a:xfrm>
            <a:off x="457200" y="1333500"/>
            <a:ext cx="5429400" cy="4572000"/>
            <a:chOff x="0" y="0"/>
            <a:chExt cx="5429400" cy="4572000"/>
          </a:xfrm>
        </p:grpSpPr>
        <p:sp>
          <p:nvSpPr>
            <p:cNvPr id="217" name="Google Shape;217;p16"/>
            <p:cNvSpPr/>
            <p:nvPr/>
          </p:nvSpPr>
          <p:spPr>
            <a:xfrm>
              <a:off x="0" y="0"/>
              <a:ext cx="5429400" cy="4572000"/>
            </a:xfrm>
            <a:prstGeom prst="roundRect">
              <a:avLst>
                <a:gd fmla="val 25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 txBox="1"/>
            <p:nvPr/>
          </p:nvSpPr>
          <p:spPr>
            <a:xfrm>
              <a:off x="0" y="0"/>
              <a:ext cx="54294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Núcleo — Árvore B em disco</a:t>
              </a:r>
              <a:endParaRPr b="1" sz="20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Ordem m parametrizável:</a:t>
              </a: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M definido em tempo de compilação.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100% em disco:</a:t>
              </a: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Acesso otimizado com 1 nó por operação de I/O.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Operações CRUD:</a:t>
              </a: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Implementação completa de busca, inserção (split) e remoção (merge).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Persistência:</a:t>
              </a: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Gerenciamento via RRN e cabeçalho (header).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6"/>
          <p:cNvGrpSpPr/>
          <p:nvPr/>
        </p:nvGrpSpPr>
        <p:grpSpPr>
          <a:xfrm>
            <a:off x="6305550" y="1333500"/>
            <a:ext cx="5429400" cy="4572000"/>
            <a:chOff x="0" y="0"/>
            <a:chExt cx="5429400" cy="4572000"/>
          </a:xfrm>
        </p:grpSpPr>
        <p:sp>
          <p:nvSpPr>
            <p:cNvPr id="220" name="Google Shape;220;p16"/>
            <p:cNvSpPr/>
            <p:nvPr/>
          </p:nvSpPr>
          <p:spPr>
            <a:xfrm>
              <a:off x="0" y="0"/>
              <a:ext cx="5429400" cy="4572000"/>
            </a:xfrm>
            <a:prstGeom prst="roundRect">
              <a:avLst>
                <a:gd fmla="val 25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6"/>
            <p:cNvSpPr txBox="1"/>
            <p:nvPr/>
          </p:nvSpPr>
          <p:spPr>
            <a:xfrm>
              <a:off x="0" y="0"/>
              <a:ext cx="54294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Extras</a:t>
              </a:r>
              <a:endParaRPr b="1" sz="20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Contador de acessos ao disco para análise de performance.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Free list ligável (setReuse) para reaproveitamento de espaço.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Utilitários: printTree, cálculo de altura e exportDot (Graphviz).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Pipeline de Benchmark: Automação via CSV (run_all, make_tables).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Comparação Titan (USP) x Intel i7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Comparação com sortedArray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6"/>
          <p:cNvSpPr txBox="1"/>
          <p:nvPr/>
        </p:nvSpPr>
        <p:spPr>
          <a:xfrm>
            <a:off x="457200" y="6455664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secundária— AED-PG-2026          15/38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457200" y="109728"/>
            <a:ext cx="1124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Ferramentas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34"/>
          <p:cNvGrpSpPr/>
          <p:nvPr/>
        </p:nvGrpSpPr>
        <p:grpSpPr>
          <a:xfrm>
            <a:off x="457200" y="1333500"/>
            <a:ext cx="11277600" cy="4572000"/>
            <a:chOff x="457200" y="1333500"/>
            <a:chExt cx="11277600" cy="4572000"/>
          </a:xfrm>
        </p:grpSpPr>
        <p:sp>
          <p:nvSpPr>
            <p:cNvPr id="230" name="Google Shape;230;p34"/>
            <p:cNvSpPr/>
            <p:nvPr/>
          </p:nvSpPr>
          <p:spPr>
            <a:xfrm>
              <a:off x="457200" y="1333500"/>
              <a:ext cx="3429000" cy="2095500"/>
            </a:xfrm>
            <a:prstGeom prst="roundRect">
              <a:avLst>
                <a:gd fmla="val 363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4"/>
            <p:cNvSpPr/>
            <p:nvPr/>
          </p:nvSpPr>
          <p:spPr>
            <a:xfrm>
              <a:off x="4381500" y="1333500"/>
              <a:ext cx="3429000" cy="2095500"/>
            </a:xfrm>
            <a:prstGeom prst="roundRect">
              <a:avLst>
                <a:gd fmla="val 363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4"/>
            <p:cNvSpPr/>
            <p:nvPr/>
          </p:nvSpPr>
          <p:spPr>
            <a:xfrm>
              <a:off x="8305800" y="1333500"/>
              <a:ext cx="3429000" cy="2095500"/>
            </a:xfrm>
            <a:prstGeom prst="roundRect">
              <a:avLst>
                <a:gd fmla="val 363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4"/>
            <p:cNvSpPr/>
            <p:nvPr/>
          </p:nvSpPr>
          <p:spPr>
            <a:xfrm>
              <a:off x="457200" y="3810000"/>
              <a:ext cx="3429000" cy="2095500"/>
            </a:xfrm>
            <a:prstGeom prst="roundRect">
              <a:avLst>
                <a:gd fmla="val 363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4"/>
            <p:cNvSpPr/>
            <p:nvPr/>
          </p:nvSpPr>
          <p:spPr>
            <a:xfrm>
              <a:off x="4381500" y="3810000"/>
              <a:ext cx="3429000" cy="2095500"/>
            </a:xfrm>
            <a:prstGeom prst="roundRect">
              <a:avLst>
                <a:gd fmla="val 363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4"/>
            <p:cNvSpPr/>
            <p:nvPr/>
          </p:nvSpPr>
          <p:spPr>
            <a:xfrm>
              <a:off x="8305800" y="3810000"/>
              <a:ext cx="3429000" cy="2095500"/>
            </a:xfrm>
            <a:prstGeom prst="roundRect">
              <a:avLst>
                <a:gd fmla="val 363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34"/>
          <p:cNvSpPr txBox="1"/>
          <p:nvPr/>
        </p:nvSpPr>
        <p:spPr>
          <a:xfrm>
            <a:off x="457200" y="6455664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16/38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p34"/>
          <p:cNvGrpSpPr/>
          <p:nvPr/>
        </p:nvGrpSpPr>
        <p:grpSpPr>
          <a:xfrm>
            <a:off x="552450" y="1428750"/>
            <a:ext cx="11087100" cy="4381500"/>
            <a:chOff x="552450" y="1428750"/>
            <a:chExt cx="11087100" cy="4381500"/>
          </a:xfrm>
        </p:grpSpPr>
        <p:sp>
          <p:nvSpPr>
            <p:cNvPr id="238" name="Google Shape;238;p34"/>
            <p:cNvSpPr txBox="1"/>
            <p:nvPr/>
          </p:nvSpPr>
          <p:spPr>
            <a:xfrm>
              <a:off x="552450" y="142875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Desenvolvimento</a:t>
              </a:r>
              <a:endParaRPr b="1" sz="16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Linguagem: </a:t>
              </a:r>
              <a:r>
                <a:rPr b="0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C++17</a:t>
              </a:r>
              <a:endParaRPr b="1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Compilador: </a:t>
              </a:r>
              <a:r>
                <a:rPr b="0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g++ -O2</a:t>
              </a:r>
              <a:endParaRPr b="1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Automação: </a:t>
              </a:r>
              <a:r>
                <a:rPr b="0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GNU Make (Pré-processamento, Compilador, Assembler, Linker e Executável)</a:t>
              </a:r>
              <a:endParaRPr b="1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34"/>
            <p:cNvSpPr txBox="1"/>
            <p:nvPr/>
          </p:nvSpPr>
          <p:spPr>
            <a:xfrm>
              <a:off x="4476750" y="142875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Entrada/Saída</a:t>
              </a:r>
              <a:endParaRPr b="1" sz="16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Biblioteca: </a:t>
              </a:r>
              <a:r>
                <a:rPr b="0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std::fstream</a:t>
              </a:r>
              <a:endParaRPr b="1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Manipulação direta de arquivos em disco para persistência da Árvore B.</a:t>
              </a:r>
              <a:endParaRPr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34"/>
            <p:cNvSpPr txBox="1"/>
            <p:nvPr/>
          </p:nvSpPr>
          <p:spPr>
            <a:xfrm>
              <a:off x="8401050" y="142875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Visualização</a:t>
              </a:r>
              <a:endParaRPr b="1" sz="16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Graphviz (grafos)</a:t>
              </a:r>
              <a:endParaRPr b="1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Exportação de arquivos .dot para visualização estrutural dos nós.</a:t>
              </a:r>
              <a:endParaRPr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34"/>
            <p:cNvSpPr txBox="1"/>
            <p:nvPr/>
          </p:nvSpPr>
          <p:spPr>
            <a:xfrm>
              <a:off x="552450" y="390525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Análise de Dados</a:t>
              </a:r>
              <a:endParaRPr b="1" sz="16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Python + matplotlib</a:t>
              </a:r>
              <a:endParaRPr b="1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Processamento de CSVs e geração de gráficos de desempenho.</a:t>
              </a:r>
              <a:endParaRPr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34"/>
            <p:cNvSpPr txBox="1"/>
            <p:nvPr/>
          </p:nvSpPr>
          <p:spPr>
            <a:xfrm>
              <a:off x="4476750" y="390525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IA Assistente</a:t>
              </a:r>
              <a:endParaRPr b="1" sz="16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Claude Code - Opus 4.8</a:t>
              </a:r>
              <a:endParaRPr b="1" sz="13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Auxílio na refatoração, documentação e depuração do código.</a:t>
              </a:r>
              <a:endParaRPr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34"/>
            <p:cNvSpPr txBox="1"/>
            <p:nvPr/>
          </p:nvSpPr>
          <p:spPr>
            <a:xfrm>
              <a:off x="8401050" y="390525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Implementação &amp; Experimentos</a:t>
              </a:r>
              <a:endParaRPr b="1" sz="14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457200" y="109728"/>
            <a:ext cx="1124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Demonstração — o programa rodando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17"/>
          <p:cNvGrpSpPr/>
          <p:nvPr/>
        </p:nvGrpSpPr>
        <p:grpSpPr>
          <a:xfrm>
            <a:off x="457200" y="1333500"/>
            <a:ext cx="3619500" cy="4572000"/>
            <a:chOff x="457200" y="1333500"/>
            <a:chExt cx="3619500" cy="4572000"/>
          </a:xfrm>
        </p:grpSpPr>
        <p:sp>
          <p:nvSpPr>
            <p:cNvPr id="251" name="Google Shape;251;p17"/>
            <p:cNvSpPr/>
            <p:nvPr/>
          </p:nvSpPr>
          <p:spPr>
            <a:xfrm>
              <a:off x="457200" y="1333500"/>
              <a:ext cx="3619500" cy="4572000"/>
            </a:xfrm>
            <a:prstGeom prst="roundRect">
              <a:avLst>
                <a:gd fmla="val 3157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 txBox="1"/>
            <p:nvPr/>
          </p:nvSpPr>
          <p:spPr>
            <a:xfrm>
              <a:off x="457200" y="1333500"/>
              <a:ext cx="36195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Etapas</a:t>
              </a:r>
              <a:endParaRPr b="1" sz="20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Compilação:</a:t>
              </a: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Fluxo completo do menu até CRUD e métricas.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Parametrização:</a:t>
              </a: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Testes com m=3 e m=5 para observar a profundidade da árvore.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Char char="●"/>
              </a:pP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Execução:</a:t>
              </a:r>
              <a:r>
                <a:rPr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Captura real do comportamento dinâmico.</a:t>
              </a:r>
              <a:endParaRPr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i="1" lang="pt-BR" sz="1100">
                  <a:solidFill>
                    <a:srgbClr val="4B5563"/>
                  </a:solidFill>
                  <a:highlight>
                    <a:srgbClr val="E5E7EB"/>
                  </a:highlight>
                  <a:latin typeface="Calibri"/>
                  <a:ea typeface="Calibri"/>
                  <a:cs typeface="Calibri"/>
                  <a:sym typeface="Calibri"/>
                </a:rPr>
                <a:t>Fluxo: make M=3/5 → menu → exportação de grafo</a:t>
              </a:r>
              <a:endParaRPr i="1" sz="1100">
                <a:solidFill>
                  <a:srgbClr val="4B5563"/>
                </a:solidFill>
                <a:highlight>
                  <a:srgbClr val="E5E7EB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4362450" y="1333500"/>
            <a:ext cx="7372500" cy="4572000"/>
            <a:chOff x="0" y="0"/>
            <a:chExt cx="7372500" cy="4572000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7372500" cy="4572000"/>
            </a:xfrm>
            <a:prstGeom prst="roundRect">
              <a:avLst>
                <a:gd fmla="val 2500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5" name="Google Shape;255;p17"/>
            <p:cNvPicPr preferRelativeResize="0"/>
            <p:nvPr/>
          </p:nvPicPr>
          <p:blipFill rotWithShape="1">
            <a:blip r:embed="rId3">
              <a:alphaModFix/>
            </a:blip>
            <a:srcRect b="1134" l="0" r="0" t="1143"/>
            <a:stretch/>
          </p:blipFill>
          <p:spPr>
            <a:xfrm>
              <a:off x="0" y="0"/>
              <a:ext cx="7372500" cy="4572000"/>
            </a:xfrm>
            <a:prstGeom prst="roundRect">
              <a:avLst>
                <a:gd fmla="val 2500" name="adj"/>
              </a:avLst>
            </a:prstGeom>
            <a:noFill/>
            <a:ln>
              <a:noFill/>
            </a:ln>
          </p:spPr>
        </p:pic>
        <p:pic>
          <p:nvPicPr>
            <p:cNvPr id="256" name="Google Shape;25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73725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17"/>
            <p:cNvSpPr/>
            <p:nvPr/>
          </p:nvSpPr>
          <p:spPr>
            <a:xfrm>
              <a:off x="95250" y="9525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7"/>
            <p:cNvSpPr/>
            <p:nvPr/>
          </p:nvSpPr>
          <p:spPr>
            <a:xfrm>
              <a:off x="285750" y="9525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7"/>
            <p:cNvSpPr/>
            <p:nvPr/>
          </p:nvSpPr>
          <p:spPr>
            <a:xfrm>
              <a:off x="476250" y="9525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7"/>
            <p:cNvSpPr txBox="1"/>
            <p:nvPr/>
          </p:nvSpPr>
          <p:spPr>
            <a:xfrm>
              <a:off x="0" y="0"/>
              <a:ext cx="737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9CA3A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demo_btree.gif — terminal</a:t>
              </a:r>
              <a:endParaRPr sz="1000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61" name="Google Shape;261;p17"/>
          <p:cNvSpPr txBox="1"/>
          <p:nvPr/>
        </p:nvSpPr>
        <p:spPr>
          <a:xfrm>
            <a:off x="457200" y="6455664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17/38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457200" y="109728"/>
            <a:ext cx="1124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 e ambiente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19"/>
          <p:cNvGrpSpPr/>
          <p:nvPr/>
        </p:nvGrpSpPr>
        <p:grpSpPr>
          <a:xfrm>
            <a:off x="457200" y="1333500"/>
            <a:ext cx="11258700" cy="4572000"/>
            <a:chOff x="0" y="0"/>
            <a:chExt cx="11258700" cy="4572000"/>
          </a:xfrm>
        </p:grpSpPr>
        <p:sp>
          <p:nvSpPr>
            <p:cNvPr id="269" name="Google Shape;269;p19"/>
            <p:cNvSpPr/>
            <p:nvPr/>
          </p:nvSpPr>
          <p:spPr>
            <a:xfrm>
              <a:off x="0" y="0"/>
              <a:ext cx="3429000" cy="4572000"/>
            </a:xfrm>
            <a:prstGeom prst="roundRect">
              <a:avLst>
                <a:gd fmla="val 3333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 txBox="1"/>
            <p:nvPr/>
          </p:nvSpPr>
          <p:spPr>
            <a:xfrm>
              <a:off x="285750" y="285750"/>
              <a:ext cx="28575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Abordagem</a:t>
              </a:r>
              <a:endParaRPr b="1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11827"/>
                </a:buClr>
                <a:buSzPts val="1400"/>
                <a:buFont typeface="Calibri"/>
                <a:buChar char="●"/>
              </a:pPr>
              <a:r>
                <a:rPr b="1" lang="pt-BR" sz="14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Driver não interativo:</a:t>
              </a:r>
              <a:r>
                <a:rPr lang="pt-BR" sz="14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Geração automatizada de CSV com métricas de desempenho.</a:t>
              </a:r>
              <a:endParaRPr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400"/>
                <a:buFont typeface="Calibri"/>
                <a:buChar char="●"/>
              </a:pPr>
              <a:r>
                <a:rPr b="1" lang="pt-BR" sz="14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Isolamento:</a:t>
              </a:r>
              <a:r>
                <a:rPr lang="pt-BR" sz="14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Cada configuração é reconstruída do zero para evitar interferência entre testes.</a:t>
              </a:r>
              <a:endParaRPr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400"/>
                <a:buFont typeface="Calibri"/>
                <a:buChar char="●"/>
              </a:pPr>
              <a:r>
                <a:rPr b="1" lang="pt-BR" sz="14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Padrões de Acesso:</a:t>
              </a:r>
              <a:r>
                <a:rPr lang="pt-BR" sz="14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Testes cobrindo modos aleatório e sequencial.</a:t>
              </a:r>
              <a:endParaRPr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11827"/>
                </a:buClr>
                <a:buSzPts val="1400"/>
                <a:buFont typeface="Calibri"/>
                <a:buChar char="●"/>
              </a:pPr>
              <a:r>
                <a:rPr b="1" lang="pt-BR" sz="14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Coleta (getrusage):</a:t>
              </a:r>
              <a:r>
                <a:rPr lang="pt-BR" sz="14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Monitoramento de CPU (usuário/sistema) e espera de I/O.</a:t>
              </a:r>
              <a:endParaRPr sz="14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3886200" y="0"/>
              <a:ext cx="7372500" cy="4572000"/>
            </a:xfrm>
            <a:prstGeom prst="roundRect">
              <a:avLst>
                <a:gd fmla="val 25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 txBox="1"/>
            <p:nvPr/>
          </p:nvSpPr>
          <p:spPr>
            <a:xfrm>
              <a:off x="4171950" y="285750"/>
              <a:ext cx="6801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Ambiente de Teste (2 Máquinas)</a:t>
              </a:r>
              <a:endParaRPr b="1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500">
                  <a:solidFill>
                    <a:srgbClr val="111827"/>
                  </a:solidFill>
                  <a:highlight>
                    <a:srgbClr val="FFFFFF"/>
                  </a:highlight>
                  <a:latin typeface="Calibri"/>
                  <a:ea typeface="Calibri"/>
                  <a:cs typeface="Calibri"/>
                  <a:sym typeface="Calibri"/>
                </a:rPr>
                <a:t>Notebook Pessoal</a:t>
              </a:r>
              <a:endParaRPr b="1" sz="1500">
                <a:solidFill>
                  <a:srgbClr val="11182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4B5563"/>
                  </a:solidFill>
                  <a:highlight>
                    <a:srgbClr val="FFFFFF"/>
                  </a:highlight>
                  <a:latin typeface="Calibri"/>
                  <a:ea typeface="Calibri"/>
                  <a:cs typeface="Calibri"/>
                  <a:sym typeface="Calibri"/>
                </a:rPr>
                <a:t>Representando hardware de uso geral e restrições térmicas típicas.</a:t>
              </a:r>
              <a:endParaRPr sz="1200">
                <a:solidFill>
                  <a:srgbClr val="4B55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500">
                  <a:solidFill>
                    <a:srgbClr val="111827"/>
                  </a:solidFill>
                  <a:highlight>
                    <a:srgbClr val="FFFFFF"/>
                  </a:highlight>
                  <a:latin typeface="Calibri"/>
                  <a:ea typeface="Calibri"/>
                  <a:cs typeface="Calibri"/>
                  <a:sym typeface="Calibri"/>
                </a:rPr>
                <a:t>Servidor Titan (USP)</a:t>
              </a:r>
              <a:endParaRPr b="1" sz="1500">
                <a:solidFill>
                  <a:srgbClr val="11182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4B5563"/>
                  </a:solidFill>
                  <a:highlight>
                    <a:srgbClr val="FFFFFF"/>
                  </a:highlight>
                  <a:latin typeface="Calibri"/>
                  <a:ea typeface="Calibri"/>
                  <a:cs typeface="Calibri"/>
                  <a:sym typeface="Calibri"/>
                </a:rPr>
                <a:t>Ambiente de alta performance para validação de escalabilidade.</a:t>
              </a:r>
              <a:endParaRPr sz="1200">
                <a:solidFill>
                  <a:srgbClr val="4B55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pt-BR" sz="1100">
                  <a:solidFill>
                    <a:srgbClr val="374151"/>
                  </a:solidFill>
                  <a:highlight>
                    <a:srgbClr val="E5E7EB"/>
                  </a:highlight>
                  <a:latin typeface="Calibri"/>
                  <a:ea typeface="Calibri"/>
                  <a:cs typeface="Calibri"/>
                  <a:sym typeface="Calibri"/>
                </a:rPr>
                <a:t>A comparação entre os dois ambientes permite validar a consistência do algoritmo em diferentes arquiteturas.</a:t>
              </a:r>
              <a:endParaRPr i="1" sz="1100">
                <a:solidFill>
                  <a:srgbClr val="374151"/>
                </a:solidFill>
                <a:highlight>
                  <a:srgbClr val="E5E7EB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9"/>
          <p:cNvSpPr txBox="1"/>
          <p:nvPr/>
        </p:nvSpPr>
        <p:spPr>
          <a:xfrm>
            <a:off x="457200" y="6455664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19/38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0" y="0"/>
            <a:ext cx="12191700" cy="868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" name="Google Shape;279;p18"/>
          <p:cNvGrpSpPr/>
          <p:nvPr/>
        </p:nvGrpSpPr>
        <p:grpSpPr>
          <a:xfrm>
            <a:off x="457200" y="1333500"/>
            <a:ext cx="11277600" cy="4572000"/>
            <a:chOff x="457200" y="1333500"/>
            <a:chExt cx="11277600" cy="4572000"/>
          </a:xfrm>
        </p:grpSpPr>
        <p:sp>
          <p:nvSpPr>
            <p:cNvPr id="280" name="Google Shape;280;p18"/>
            <p:cNvSpPr/>
            <p:nvPr/>
          </p:nvSpPr>
          <p:spPr>
            <a:xfrm>
              <a:off x="457200" y="1333500"/>
              <a:ext cx="11277600" cy="4572000"/>
            </a:xfrm>
            <a:prstGeom prst="roundRect">
              <a:avLst>
                <a:gd fmla="val 25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8"/>
            <p:cNvSpPr txBox="1"/>
            <p:nvPr/>
          </p:nvSpPr>
          <p:spPr>
            <a:xfrm>
              <a:off x="838200" y="1714500"/>
              <a:ext cx="43815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Matriz de Experimentos</a:t>
              </a:r>
              <a:endParaRPr b="1" sz="24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0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Exp.1:</a:t>
              </a:r>
              <a:r>
                <a:rPr b="0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Impacto da ordem </a:t>
              </a:r>
              <a:r>
                <a:rPr b="0" i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(N=10⁵)</a:t>
              </a:r>
              <a:endParaRPr b="0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0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Exp.2:</a:t>
              </a:r>
              <a:r>
                <a:rPr b="0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Escala N (10³–10⁶)</a:t>
              </a:r>
              <a:endParaRPr b="0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0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Exp.3:</a:t>
              </a:r>
              <a:r>
                <a:rPr b="0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Ocupação com/sem reuso</a:t>
              </a:r>
              <a:endParaRPr b="0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0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Exp.4:</a:t>
              </a:r>
              <a:r>
                <a:rPr b="0" lang="pt-BR" sz="1600">
                  <a:solidFill>
                    <a:srgbClr val="111827"/>
                  </a:solidFill>
                  <a:latin typeface="Calibri"/>
                  <a:ea typeface="Calibri"/>
                  <a:cs typeface="Calibri"/>
                  <a:sym typeface="Calibri"/>
                </a:rPr>
                <a:t> CPU vs I/O</a:t>
              </a:r>
              <a:endParaRPr b="0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i="1" lang="pt-BR" sz="1400">
                  <a:solidFill>
                    <a:srgbClr val="1D4ED8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i="1" lang="pt-BR" sz="14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 Escalonamento: I/O por busca vs N (aleatório)</a:t>
              </a:r>
              <a:endParaRPr b="0" i="1" sz="14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i="1" lang="pt-BR" sz="12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(Validação em 2 máquinas distintas)</a:t>
              </a:r>
              <a:endParaRPr b="0" i="1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2" name="Google Shape;282;p18"/>
            <p:cNvPicPr preferRelativeResize="0"/>
            <p:nvPr/>
          </p:nvPicPr>
          <p:blipFill rotWithShape="1">
            <a:blip r:embed="rId3">
              <a:alphaModFix/>
            </a:blip>
            <a:srcRect b="0" l="60" r="60" t="0"/>
            <a:stretch/>
          </p:blipFill>
          <p:spPr>
            <a:xfrm>
              <a:off x="5905500" y="2133600"/>
              <a:ext cx="5334000" cy="2971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3" name="Google Shape;283;p18"/>
          <p:cNvSpPr txBox="1"/>
          <p:nvPr/>
        </p:nvSpPr>
        <p:spPr>
          <a:xfrm>
            <a:off x="457200" y="109728"/>
            <a:ext cx="11247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experimentos — a matriz de testes</a:t>
            </a:r>
            <a:endParaRPr b="1" i="0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457200" y="6455664"/>
            <a:ext cx="1124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18/38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da ordem m — I/O por busca (N=10⁵)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1" name="Google Shape;291;p21"/>
          <p:cNvGraphicFramePr/>
          <p:nvPr/>
        </p:nvGraphicFramePr>
        <p:xfrm>
          <a:off x="36576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{6DC2BB08-0BC5-4FCE-B91E-25C9619F0521}</a:tableStyleId>
              </a:tblPr>
              <a:tblGrid>
                <a:gridCol w="899150"/>
                <a:gridCol w="899150"/>
                <a:gridCol w="899150"/>
                <a:gridCol w="899150"/>
                <a:gridCol w="899150"/>
                <a:gridCol w="899150"/>
              </a:tblGrid>
              <a:tr h="351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altura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busca I/O/op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inser. I/O/op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rem. I/O/op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arquivo (KB)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13.25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16.90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19.67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2,040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10.48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13.51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16.76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1,829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8.63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11.50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13.52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1,589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6.79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9.05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10.91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1,411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7.00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8.16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1,251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6.77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1,189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5.04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5.64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1,146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5.51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128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5.41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1,121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256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4.57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5.00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1,088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4.41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1,053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3.99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4.34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1,016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descr="chart_io_vs_m.png" id="292" name="Google Shape;2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280160"/>
            <a:ext cx="5943600" cy="330745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I/O por busca cai de 13,25 (m=3, altura 14) para 2,00 (m≥512, altura 2). Ganho satura por volta de m≈64-128.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21/38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por operação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Busca: a mais barata (raiz → folha)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Inserção: split reescreve nós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Remoção: a mais cara (redistribui / funde)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Todas caem com m e saturam juntas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_phase_io.png" id="302" name="Google Shape;3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3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23/38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Reaproveitamento de nós (churn)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0" name="Google Shape;310;p25"/>
          <p:cNvGraphicFramePr/>
          <p:nvPr/>
        </p:nvGraphicFramePr>
        <p:xfrm>
          <a:off x="36576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{6DC2BB08-0BC5-4FCE-B91E-25C9619F0521}</a:tableStyleId>
              </a:tblPr>
              <a:tblGrid>
                <a:gridCol w="1079000"/>
                <a:gridCol w="1079000"/>
                <a:gridCol w="1079000"/>
                <a:gridCol w="1079000"/>
                <a:gridCol w="1079000"/>
              </a:tblGrid>
              <a:tr h="65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sem reuso (KB)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com reuso (KB)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economia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10,000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342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241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30%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100,000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3,407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2,404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29%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10,000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266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190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29%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100,000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2,663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1,905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28%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10,000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196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144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27%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100,000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1,931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1,404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27%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descr="chart_reuse.png" id="311" name="Google Shape;3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280160"/>
            <a:ext cx="5943600" cy="330745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reaproveitamento economiza ~27-30% do tamanho do arquivo neste workload.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26/38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5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5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duas máquinas da avaliação</a:t>
            </a:r>
            <a:endParaRPr/>
          </a:p>
        </p:txBody>
      </p:sp>
      <p:graphicFrame>
        <p:nvGraphicFramePr>
          <p:cNvPr id="320" name="Google Shape;320;p65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{06D4441D-6F2B-4F01-9669-A21779A9EA7D}</a:tableStyleId>
              </a:tblPr>
              <a:tblGrid>
                <a:gridCol w="2651750"/>
                <a:gridCol w="4069075"/>
                <a:gridCol w="45537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Notebook (referência)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Titan — USP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7C3AB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 Core 7 240H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AMD Ryzen Threadripper PRO 5975WX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Núcleos / threads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núcleos / 16 threads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 núcleos / 64 threads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4F1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Cache (L1d·L2·L3)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384 KiB · 10 · 24 MiB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· 16 · 128 MiB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Memória RAM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GiB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 GiB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4F1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Ubuntu 24.04 — WSL2 (Windows)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Ubuntu 24.04 — bare-metal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Kernel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6.6 (WSL2)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6.17 (generic)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4F1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Compilador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g++ 13.3.0 · C++17 -O2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g++ 13.3.0 · C++17 -O2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EDE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Ferramentas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Make 4.3 · Graphviz 2.43 · Py 3.12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Make 4.3 · Graphviz 2.43 · Py 3.12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4F1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Disco do arquivo .bin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ext4 (disco virtual WSL2)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ext4 (SSD NVMe, bare-metal)</a:t>
                      </a:r>
                      <a:endParaRPr/>
                    </a:p>
                  </a:txBody>
                  <a:tcPr marT="13725" marB="13725" marR="45725" marL="73150" anchor="ctr"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65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Mesmo software (g++ 13.3, mesmas ferramentas); hardware e ambiente bem diferentes. Ainda assim, os acessos a disco saem idênticos — só o tempo muda.</a:t>
            </a:r>
            <a:endParaRPr/>
          </a:p>
        </p:txBody>
      </p:sp>
      <p:sp>
        <p:nvSpPr>
          <p:cNvPr id="322" name="Google Shape;322;p6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27/38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tempo (wall)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9" name="Google Shape;329;p26"/>
          <p:cNvGraphicFramePr/>
          <p:nvPr/>
        </p:nvGraphicFramePr>
        <p:xfrm>
          <a:off x="36576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{6DC2BB08-0BC5-4FCE-B91E-25C9619F0521}</a:tableStyleId>
              </a:tblPr>
              <a:tblGrid>
                <a:gridCol w="1079000"/>
                <a:gridCol w="1079000"/>
                <a:gridCol w="1079000"/>
                <a:gridCol w="1079000"/>
                <a:gridCol w="1079000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acessos disco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Notebook wall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Titan wall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FFFFFF"/>
                          </a:solidFill>
                        </a:rPr>
                        <a:t>speedup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4.982.252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6.05 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7.78 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0.78×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2.006.878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2.61 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2.23 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1.17×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1.346.869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2.02 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1.48 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1.36×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1.033.255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2.22 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1.96 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cap="none" strike="noStrike">
                          <a:solidFill>
                            <a:srgbClr val="111827"/>
                          </a:solidFill>
                        </a:rPr>
                        <a:t>1.14×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descr="chart_wall_machines.png" id="330" name="Google Shape;3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280160"/>
            <a:ext cx="5943600" cy="330745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6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Mesmo programa, 2 máquinas: acessos a disco idênticos; só o tempo muda — a curva tem a mesma forma.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28/38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CPU e determinismo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7"/>
          <p:cNvSpPr txBox="1"/>
          <p:nvPr/>
        </p:nvSpPr>
        <p:spPr>
          <a:xfrm>
            <a:off x="457200" y="1051560"/>
            <a:ext cx="11247120" cy="1874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Tempo é quase todo CPU de sistema (I/O), não espera de disco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Acessos idênticos: todos os pontos sobre y=x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Determinística e portável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_cpu_split.png" id="340" name="Google Shape;3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274" y="3200400"/>
            <a:ext cx="5258252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7"/>
          <p:cNvSpPr txBox="1"/>
          <p:nvPr/>
        </p:nvSpPr>
        <p:spPr>
          <a:xfrm>
            <a:off x="365760" y="6156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CPU usuário vs sistema (I/O) nas 2 máquinas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_determinism.png" id="342" name="Google Shape;34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9154" y="3200400"/>
            <a:ext cx="5258252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7"/>
          <p:cNvSpPr txBox="1"/>
          <p:nvPr/>
        </p:nvSpPr>
        <p:spPr>
          <a:xfrm>
            <a:off x="6263640" y="6156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Acessos a disco idênticos — pontos sobre y=x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29/38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validação cruzada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8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Notebook × Titan (USP)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Acessos a disco idênticos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Só o tempo varia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Comparação via compare.py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_machines.png" id="352" name="Google Shape;3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8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30/38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sistemas — escala do conjunto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457200" y="1051560"/>
            <a:ext cx="585216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 até 1 milhão (m=100), nas 2 máquinas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Tempo cresce devagar (logarítmico)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Mesma tendência; Titan mais rápido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Prova prática de escalabilidade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_scale_machines.png" id="361" name="Google Shape;3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371600"/>
            <a:ext cx="5577840" cy="31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9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31/38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4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4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Comparação de desempenho — Árvore B × Array ordenado</a:t>
            </a:r>
            <a:endParaRPr/>
          </a:p>
        </p:txBody>
      </p:sp>
      <p:pic>
        <p:nvPicPr>
          <p:cNvPr descr="cmp_btree_array.png" id="369" name="Google Shape;36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51560"/>
            <a:ext cx="11430000" cy="32023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0" name="Google Shape;370;p64"/>
          <p:cNvGraphicFramePr/>
          <p:nvPr/>
        </p:nvGraphicFramePr>
        <p:xfrm>
          <a:off x="457200" y="4526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{06D4441D-6F2B-4F01-9669-A21779A9EA7D}</a:tableStyleId>
              </a:tblPr>
              <a:tblGrid>
                <a:gridCol w="1188725"/>
                <a:gridCol w="1856225"/>
                <a:gridCol w="1856225"/>
                <a:gridCol w="1856225"/>
              </a:tblGrid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Inserção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Busca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Remoção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1D4ED8"/>
                    </a:solidFill>
                  </a:tcPr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5,7 / 58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3,7 / 5,7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7,7 / 54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EEF2FF"/>
                    </a:solidFill>
                  </a:tcPr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7,5 / 496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4,6 / 8,9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9,5 / 525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FFFFFF"/>
                    </a:solidFill>
                  </a:tcPr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10.000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9,4 / 5037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6,6 / 12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100" u="none" cap="none" strike="noStrike">
                          <a:solidFill>
                            <a:srgbClr val="1118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11,3 / 4970</a:t>
                      </a:r>
                      <a:endParaRPr/>
                    </a:p>
                  </a:txBody>
                  <a:tcPr marT="18300" marB="18300" marR="27425" marL="45725"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371" name="Google Shape;371;p64"/>
          <p:cNvSpPr txBox="1"/>
          <p:nvPr/>
        </p:nvSpPr>
        <p:spPr>
          <a:xfrm>
            <a:off x="457200" y="626364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Acessos médios/op  —  Árvore B / Array ordenado</a:t>
            </a:r>
            <a:endParaRPr/>
          </a:p>
        </p:txBody>
      </p:sp>
      <p:sp>
        <p:nvSpPr>
          <p:cNvPr id="372" name="Google Shape;372;p64"/>
          <p:cNvSpPr/>
          <p:nvPr/>
        </p:nvSpPr>
        <p:spPr>
          <a:xfrm>
            <a:off x="7589520" y="4526280"/>
            <a:ext cx="4114800" cy="178308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Busca: quase empata — ambas O(log n).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2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Inserção e remoção: array desloca ~N/2 registros (O(n)).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pt-BR" sz="12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→ até 538× (inserção) e 440× (remoção) mais I/O — N=10.000.</a:t>
            </a:r>
            <a:endParaRPr/>
          </a:p>
        </p:txBody>
      </p:sp>
      <p:sp>
        <p:nvSpPr>
          <p:cNvPr id="373" name="Google Shape;373;p64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25/38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se usássemos union no header? (sugestão do prof.)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0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Como está hoje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Header e BNode são tipos separados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E/S serializa campo a campo (memcpy)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Header usa 1 página inteira (RRN uniforme)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Nó livre esconde o próximo em K[1]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Com union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Página única: header e nós no mesmo tamanho fixo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Lê/escreve a página inteira → menos código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FreeNode.next explícito (autodocumentado)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Custo: portabilidade do binário (padding/endianness)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0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32/38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1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Dificuldades técnicas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1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Indexação 1-based (RRN 0 = header)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Remoção: manter o path para reparar underflow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eofbit do fstream → resolvido com clear()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Serialização campo a campo é propensa a erro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1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33/38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Vantagens × Desvantagens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2"/>
          <p:cNvSpPr txBox="1"/>
          <p:nvPr/>
        </p:nvSpPr>
        <p:spPr>
          <a:xfrm>
            <a:off x="41148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Altura baixa → poucos acessos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Sempre balanceada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Ideal para disco e índices de SGBD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Determinística + reuso de espaço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2"/>
          <p:cNvSpPr txBox="1"/>
          <p:nvPr/>
        </p:nvSpPr>
        <p:spPr>
          <a:xfrm>
            <a:off x="6263640" y="1051560"/>
            <a:ext cx="562356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Desvantagens / custos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Nós subocupados (~50% no sequencial)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Remoção complexa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m muito grande → mais CPU por nó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Existe um m ótimo (tamanho de bloco)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34/38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3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Aplicações práticas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3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SGBDs: MySQL/InnoDB, PostgreSQL, 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Sistemas de arquivos: NTFS, APFS, ext4, Btrfs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Chave-valor: SQLite, LMDB, BerkeleyDB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Uso natural: índice de um banco em disco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3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35/38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Árvore B 100% em disco, 1 nó por I/O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I/O por operação cai com m até saturar (~64-128)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Free list economiza ~27-30% de espaço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Determinística: acessos idênticos em 2 máquinas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5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36/38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6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6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Comer, D. (1979). The Ubiquitous B-Tree. ACM Computing Surveys.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Knuth, D. The Art of Computer Programming, Vol. 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Bayer, R. &amp; McCreight, E. (1972). Large Ordered Indexes.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Baranauskas, J. A. Slides AED-PG-2026 (Árvores B). DCM / USP.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•  Obrigado! Perguntas?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6"/>
          <p:cNvSpPr txBox="1"/>
          <p:nvPr/>
        </p:nvSpPr>
        <p:spPr>
          <a:xfrm>
            <a:off x="457200" y="6455664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Árvore B em Memória Secundária — AED-PG-2026          37/38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Cezio Ferreira</dc:creator>
</cp:coreProperties>
</file>