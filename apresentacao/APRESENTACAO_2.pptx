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1554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Árvore B em Memória Secundária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Uma classe Árvore B de ordem m operando estritamente em disco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Algoritmos e Estruturas de Dados — AED-PG-2026 (5955001-3)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Prof. Dr. José Augusto Baranauskas — DCM / USP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C++17  ·  1º Semestre/2026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Cássio Takarada  ·  Cézio Luiz Ferreira Junior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Parte 1 — a estrutura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Por que disco e por que Árvore B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Anatomia do nó e do arquivo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Busca, inserção e remoção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Demonstração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Parte 2 — a avaliação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Experimentos e métricas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Impacto da ordem m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Escala e reaproveitamento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Validação em 2 máquinas + conclusões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2/36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Árvore B de ordem m que reside em disco (arquivo)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Nunca carregada inteira — 1 nó por acesso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Busca, inserção e remoção balanceadas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Meta extra: avaliar m, escala e 2 máquinas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3/36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Contexto — memória rápida × disco lento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RAM: rápida, pequena, volátil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Disco: enorme, permanente, milhares de vezes mais lento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Gargalo = disco, não CPU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Objetivo: minimizar acessos ao disco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4/36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O índice e a métrica honesta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Índice = sumário que evita ler o arquivo inteiro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Árvore B: índice real de SGBDs e sistemas de arquivos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Métrica honesta = nº de acessos ao disco (não o relógio)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O relógio engana: a escrita vai ao cache do 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5/36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Anatomia de um nó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Registro de tamanho fixo, lido de uma vez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Campos: n · ponteiros A[ ] · chaves K[ ]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Ordem m → até m-1 chaves e m filhos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1 nó = 1 acesso ao disco</a:t>
            </a:r>
          </a:p>
        </p:txBody>
      </p:sp>
      <p:pic>
        <p:nvPicPr>
          <p:cNvPr id="5" name="Picture 4" descr="chart_node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2107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6/36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Layout do arquivo no disco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Arquivo = vetor de registros (RRN)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RRN 0 = header (root, total, free_head)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offset = RRN × PAGE_SIZE → acesso direto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Nós removidos → lista de livres (reuso)</a:t>
            </a:r>
          </a:p>
        </p:txBody>
      </p:sp>
      <p:pic>
        <p:nvPicPr>
          <p:cNvPr id="5" name="Picture 4" descr="chart_file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2107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7/36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Decisões de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Ordem m = constante de compilação (M)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Raiz no header · 1 nó por I/O · nunca carrega tudo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Free list no próprio arquivo (reaproveitamento)</a:t>
            </a:r>
          </a:p>
        </p:txBody>
      </p:sp>
      <p:pic>
        <p:nvPicPr>
          <p:cNvPr id="5" name="Picture 4" descr="m3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11247120" cy="24074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7789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(m=3, 40 chaves) exportada pelo próprio código — o número é o RRN no disco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8/36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O DiskManager — um nó por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Toda E/S passa por uma única classe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readNode / writeNode = 1 registro de PAGE_SIZE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Aqui mora o contador de acessos (métrica central)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A árvore nunca é carregada inteira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9/36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Reaproveitamento — a lista de livres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Remoção libera nó → vira nó LIVRE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freeNode encadeia na lista (free_head no header)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allocNode reusa antes de crescer o arquivo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Ligável (setReuse) — medido no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10/36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Métodos —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Busca m-way (mSearch)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Inserção bottom-up com split (insertB)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Remoção: sucessor, redistribuição e fusão (deleteB)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Monitoramento: printTree · height · exportDot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11/36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Busca m-way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Chaves dividem o universo em faixas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Desce pelo ponteiro da faixa certa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Custo ≈ altura da árvore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Buscar 70: apenas 2 acessos</a:t>
            </a:r>
          </a:p>
        </p:txBody>
      </p:sp>
      <p:pic>
        <p:nvPicPr>
          <p:cNvPr id="5" name="Picture 4" descr="m3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11939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2595518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 busca segue um caminho da raiz à folha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12/36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Inserção 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Bottom-up: acha a folha, insere em ordem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Estourou (&gt; m-1 chaves)? → split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A mediana sobe ao pai; pode propagar e criar raiz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É o que mantém a árvore balanceada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13/36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Remoção — sucessor, redistribuição e fusão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Nó interno: troca pelo sucessor in-order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Folha pode ficar em underflow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Redistribuição: empresta de um irmão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Fusão: funde com irmão + chave do 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14/36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Resumo — o que o código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Núcleo — Árvore B em disco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Ordem m parametrizável (M em compilação)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100% em disco: 1 nó por I/O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Busca · inserção (split) · remoção (merge)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Persistência por RRN +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Extras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Contador de acessos ao disco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Free list ligável (setReuse)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printTree · height · exportDot (Graphviz)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Benchmark CSV + automação (run_all, make_tables)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15/36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Demonstração — o programa rodando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Compilação → menu → CRUD + métricas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m=3 e m=5: a árvore fica mais rasa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Captura real da execução</a:t>
            </a:r>
          </a:p>
        </p:txBody>
      </p:sp>
      <p:pic>
        <p:nvPicPr>
          <p:cNvPr id="5" name="Picture 4" descr="demo_btre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145" y="2743200"/>
            <a:ext cx="5331229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615648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make M=3/M=5 → menu interativo → grafo exportado pelo programa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16/36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Grafos gerados pelo programa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Exportado pelo programa (Graphviz)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Cada caixa = nó no disco (RRN)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m=5: mais chaves por nó → árvore mais rasa</a:t>
            </a:r>
          </a:p>
        </p:txBody>
      </p:sp>
      <p:pic>
        <p:nvPicPr>
          <p:cNvPr id="5" name="Picture 4" descr="graphs_m3_m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601" y="3840480"/>
            <a:ext cx="8020318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93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Mesma sequência, duas ordens m — à direita a árvore é mais rasa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17/36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Os experimentos — a matriz de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Exp.1 — impacto da ordem m (N=10⁵)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Exp.2 — escala N (10³–10⁶)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Exp.3 — ocupação com/sem reuso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Exp.4 — CPU vs I/O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Validação em 2 máquinas</a:t>
            </a:r>
          </a:p>
        </p:txBody>
      </p:sp>
      <p:pic>
        <p:nvPicPr>
          <p:cNvPr id="5" name="Picture 4" descr="chart_io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3103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18/36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Metodologia e ambiente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Driver não interativo → CSV de métricas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Cada configuração reconstruída do zero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Modos aleatório e sequencial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getrusage: CPU usuário / sistema / espera de I/O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2 máquinas: Notebook × Titan (USP)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19/36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Métricas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Acessos ao disco — métrica central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Altura (~ log_m N)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Ocupação: nós, livres e bytes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Tempo: wall · CPU (user/sys) · espera de I/O</a:t>
            </a:r>
          </a:p>
        </p:txBody>
      </p:sp>
      <p:pic>
        <p:nvPicPr>
          <p:cNvPr id="5" name="Picture 4" descr="chart_height_vs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3103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20/36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Impacto da ordem m — I/O por busca (N=10⁵)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5394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altura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busca I/O/op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inser. I/O/op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rem. I/O/op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arquivo (KB)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19.67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10.48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13.51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16.76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1,829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8.63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13.52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6.79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9.05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10.91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1,411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8.16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3.95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5.95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6.77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1,189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2.99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4.97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5.51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1,131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2.99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4.57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1,088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3.99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4.34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1,016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hart_io_vs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80160"/>
            <a:ext cx="5943600" cy="3307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I/O por busca cai de 13,25 (m=3, altura 14) para 2,00 (m≥512, altura 2). Ganho satura por volta de m≈64-128.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21/36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Impacto da ordem m — altura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Altura ≈ acessos por busca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m=3 → 14 níveis (fundo demais)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m cresce → altura despenca em degraus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m grande → altura 2</a:t>
            </a:r>
          </a:p>
        </p:txBody>
      </p:sp>
      <p:pic>
        <p:nvPicPr>
          <p:cNvPr id="5" name="Picture 4" descr="chart_height_vs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3103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22/36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Resultados por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Busca: a mais barata (raiz → folha)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Inserção: split reescreve nós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Remoção: a mais cara (redistribui / funde)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Todas caem com m e saturam juntas</a:t>
            </a:r>
          </a:p>
        </p:txBody>
      </p:sp>
      <p:pic>
        <p:nvPicPr>
          <p:cNvPr id="5" name="Picture 4" descr="chart_phase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3103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23/36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Escala do conjunto (mil → 1 milhão)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N de mil a um milhão de chaves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Acessos por busca quase não mudam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Custo logarítmico na base 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Escalável: cresce o dado, não o custo</a:t>
            </a:r>
          </a:p>
        </p:txBody>
      </p:sp>
      <p:pic>
        <p:nvPicPr>
          <p:cNvPr id="5" name="Picture 4" descr="chart_io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3103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24/36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Reaproveitamento de nós (churn)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5394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sem reuso (KB)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 reuso (KB)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economia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3,407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2,404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2,663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1,905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28%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1,931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1,404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27%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hart_r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80160"/>
            <a:ext cx="5943600" cy="3307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O reaproveitamento economiza ~27-30% do tamanho do arquivo neste workload.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25/36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Dois sistemas — tempo (wall)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5394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acessos disco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Notebook wall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Titan wall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4.982.252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6.05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7.78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0.78×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2.006.878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2.61 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2.23 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1.17×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1.346.869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2.02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1.48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1.36×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1.033.255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2.22 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1.96 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1.14×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hart_wall_mach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80160"/>
            <a:ext cx="5943600" cy="3307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Mesmo programa, 2 máquinas: acessos a disco idênticos; só o tempo muda — a curva tem a mesma 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26/36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Dois sistemas — CPU e determinismo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Tempo é quase todo CPU de sistema (I/O), não espera de disco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Acessos idênticos: todos os pontos sobre y=x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Determinística e portável</a:t>
            </a:r>
          </a:p>
        </p:txBody>
      </p:sp>
      <p:pic>
        <p:nvPicPr>
          <p:cNvPr id="5" name="Picture 4" descr="chart_cpu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74" y="3200400"/>
            <a:ext cx="5258252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564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CPU usuário vs sistema (I/O) nas 2 máquinas</a:t>
            </a:r>
          </a:p>
        </p:txBody>
      </p:sp>
      <p:pic>
        <p:nvPicPr>
          <p:cNvPr id="7" name="Picture 6" descr="chart_determi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54" y="3200400"/>
            <a:ext cx="5258252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61564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Acessos a disco idênticos — pontos sobre y=x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27/36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Dois sistemas — validação cruzada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Notebook × Titan (USP)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Acessos a disco idênticos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Só o tempo varia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Comparação via compare.py</a:t>
            </a:r>
          </a:p>
        </p:txBody>
      </p:sp>
      <p:pic>
        <p:nvPicPr>
          <p:cNvPr id="5" name="Picture 4" descr="chart_mach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3103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28/36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Dois sistemas — escala do conjunto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N até 1 milhão (m=100), nas 2 máquinas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Tempo cresce devagar (logarítmico)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Mesma tendência; Titan mais rápido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Prova prática de escalabilidade</a:t>
            </a:r>
          </a:p>
        </p:txBody>
      </p:sp>
      <p:pic>
        <p:nvPicPr>
          <p:cNvPr id="5" name="Picture 4" descr="chart_scale_mach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577840" cy="3103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29/36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E se usássemos union no header? (sugestão do prof.)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Como está hoje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Header e BNode são tipos separados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E/S serializa campo a campo (memcpy)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Header usa 1 página inteira (RRN uniforme)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Nó livre esconde o próximo em K[1]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Com union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Página única: header e nós no mesmo tamanho fixo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Lê/escreve a página inteira → menos código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FreeNode.next explícito (autodocumentado)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Custo: portabilidade do binário (padding/endianness)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30/36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Dificuldades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Indexação 1-based (RRN 0 = header)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Remoção: manter o path para reparar underflow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eofbit do fstream → resolvido com clear()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Serialização campo a campo é propensa a erro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31/36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Vantagens × Desvantagens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Vantagens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Altura baixa → poucos acessos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Sempre balanceada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Ideal para disco e índices de SGBD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Determinística + reuso de espaço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Desvantagens / custos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Nós subocupados (~50% no sequencial)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Remoção complexa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m muito grande → mais CPU por nó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Existe um m ótimo (tamanho de bloco)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32/36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Aplicações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SGBDs: MySQL/InnoDB, PostgreSQL, Oracle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Sistemas de arquivos: NTFS, APFS, ext4, Btrfs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Chave-valor: SQLite, LMDB, BerkeleyDB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Uso natural: índice de um banco em disco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33/36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Ferramentas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Implementação &amp; experimentos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C++17 (g++ -O2) · GNU Make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std::fstream (binário, registros fixos)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Graphviz (grafos) · Python + matplotlib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python-pptx / reportlab (slides)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Processo &amp; reprodutibilidade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Versionamento com Git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Experimentos reprodutíveis (CSV)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Build parametrizável: make M=&lt;ordem&gt;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Validação cruzada em 2 máquinas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34/36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Árvore B 100% em disco, 1 nó por I/O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I/O por operação cai com m até saturar (~64-128)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Free list economiza ~27-30% de espaço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Determinística: acessos idênticos em 2 máquinas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35/36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Comer, D. (1979). The Ubiquitous B-Tree. ACM Computing Surveys.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Knuth, D. The Art of Computer Programming, Vol. 3.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Bayer, R. &amp; McCreight, E. (1972). Large Ordered Indexes.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Baranauskas, J. A. Slides AED-PG-2026 (Árvores B). DCM / USP.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Obrigado! Perguntas?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36/36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